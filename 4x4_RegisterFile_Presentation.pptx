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2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5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9144000" cy="5143500"/>
  <p:notesSz cx="5143500" cy="9144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2880"/>
        <p:guide pos="162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9051795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279966905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1697966005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961145970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42414407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64939218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60759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12135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323765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43783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20367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677912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29360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612552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536119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375377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12921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94077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7308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21374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082112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0379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71715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212766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29576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373077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53156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146323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030029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588349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14404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728763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881546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130184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026203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027196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4077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981437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281967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71686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370032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404339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jp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0D1B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8240564" name="Shape 0"/>
          <p:cNvSpPr/>
          <p:nvPr/>
        </p:nvSpPr>
        <p:spPr bwMode="auto">
          <a:xfrm>
            <a:off x="0" y="0"/>
            <a:ext cx="9144000" cy="1005840"/>
          </a:xfrm>
          <a:prstGeom prst="rect">
            <a:avLst/>
          </a:prstGeom>
          <a:solidFill>
            <a:srgbClr val="1B4F72"/>
          </a:solidFill>
          <a:ln/>
        </p:spPr>
      </p:sp>
      <p:sp>
        <p:nvSpPr>
          <p:cNvPr id="1669199008" name="Text 1"/>
          <p:cNvSpPr/>
          <p:nvPr/>
        </p:nvSpPr>
        <p:spPr bwMode="auto">
          <a:xfrm>
            <a:off x="365760" y="914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 spc="200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CIRCUIT CONCLAVE HACKATHON 2026</a:t>
            </a:r>
            <a:endParaRPr lang="en-US" sz="1400"/>
          </a:p>
        </p:txBody>
      </p:sp>
      <p:sp>
        <p:nvSpPr>
          <p:cNvPr id="684570264" name="Text 2"/>
          <p:cNvSpPr/>
          <p:nvPr/>
        </p:nvSpPr>
        <p:spPr bwMode="auto">
          <a:xfrm>
            <a:off x="365760" y="5486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DCE3EA"/>
                </a:solidFill>
                <a:latin typeface="Calibri"/>
                <a:ea typeface="Calibri"/>
                <a:cs typeface="Calibri"/>
              </a:rPr>
              <a:t>DR. VISHWANATH KARAD MIT WORLD PEACE UNIVERSITY  |  DoEEE &amp; prismlabs</a:t>
            </a:r>
            <a:endParaRPr lang="en-US" sz="1100"/>
          </a:p>
        </p:txBody>
      </p:sp>
      <p:sp>
        <p:nvSpPr>
          <p:cNvPr id="1161216898" name="Text 3"/>
          <p:cNvSpPr/>
          <p:nvPr/>
        </p:nvSpPr>
        <p:spPr bwMode="auto">
          <a:xfrm>
            <a:off x="502920" y="1234440"/>
            <a:ext cx="8138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3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DESIGN &amp; IMPLEMENTATION OF A</a:t>
            </a:r>
            <a:endParaRPr lang="en-US" sz="3800"/>
          </a:p>
          <a:p>
            <a:pPr marL="0" indent="0" algn="ctr">
              <a:buNone/>
              <a:defRPr/>
            </a:pPr>
            <a:r>
              <a:rPr lang="en-US" sz="3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4×4 REGISTER FILE</a:t>
            </a:r>
            <a:endParaRPr lang="en-US" sz="3800"/>
          </a:p>
        </p:txBody>
      </p:sp>
      <p:sp>
        <p:nvSpPr>
          <p:cNvPr id="2067135513" name="Text 4"/>
          <p:cNvSpPr/>
          <p:nvPr/>
        </p:nvSpPr>
        <p:spPr bwMode="auto">
          <a:xfrm>
            <a:off x="502920" y="288036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600" i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with Synchronous Read/Write and Asynchronous Clear</a:t>
            </a:r>
            <a:endParaRPr lang="en-US" sz="1600"/>
          </a:p>
        </p:txBody>
      </p:sp>
      <p:sp>
        <p:nvSpPr>
          <p:cNvPr id="928492878" name="Shape 5"/>
          <p:cNvSpPr/>
          <p:nvPr/>
        </p:nvSpPr>
        <p:spPr bwMode="auto">
          <a:xfrm>
            <a:off x="0" y="3703320"/>
            <a:ext cx="9144000" cy="1417320"/>
          </a:xfrm>
          <a:prstGeom prst="rect">
            <a:avLst/>
          </a:prstGeom>
          <a:solidFill>
            <a:srgbClr val="1B4F72"/>
          </a:solidFill>
          <a:ln/>
        </p:spPr>
      </p:sp>
      <p:sp>
        <p:nvSpPr>
          <p:cNvPr id="327006994" name="Text 6"/>
          <p:cNvSpPr/>
          <p:nvPr/>
        </p:nvSpPr>
        <p:spPr bwMode="auto">
          <a:xfrm>
            <a:off x="457200" y="379476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Team Members</a:t>
            </a:r>
            <a:endParaRPr lang="en-US" sz="1300"/>
          </a:p>
          <a:p>
            <a:pPr marL="0" indent="0">
              <a:buNone/>
              <a:defRPr/>
            </a:pP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Harshvardhan Rathod  |  PRN: —————</a:t>
            </a:r>
            <a:endParaRPr lang="en-US" sz="1300"/>
          </a:p>
          <a:p>
            <a:pPr marL="0" indent="0">
              <a:buNone/>
              <a:defRPr/>
            </a:pP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Alok Deep Verma  |  PRN: </a:t>
            </a:r>
            <a:r>
              <a:rPr lang="en-US" sz="1300" b="0" i="0" u="none" strike="noStrike" cap="none" spc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—————</a:t>
            </a:r>
            <a:endParaRPr lang="en-US" sz="1300"/>
          </a:p>
        </p:txBody>
      </p:sp>
      <p:sp>
        <p:nvSpPr>
          <p:cNvPr id="999832102" name="Text 7"/>
          <p:cNvSpPr/>
          <p:nvPr/>
        </p:nvSpPr>
        <p:spPr bwMode="auto">
          <a:xfrm>
            <a:off x="4846320" y="379476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Division: 23  |  FY B.Tech E&amp;CE</a:t>
            </a:r>
            <a:b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</a:br>
            <a:endParaRPr lang="en-US" sz="1300"/>
          </a:p>
          <a:p>
            <a:pPr marL="0" indent="0">
              <a:buNone/>
              <a:defRPr/>
            </a:pP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Faculty Mentor: Dr. Sarika Patil</a:t>
            </a:r>
            <a:b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</a:br>
            <a:endParaRPr lang="en-US" sz="1300"/>
          </a:p>
          <a:p>
            <a:pPr marL="0" indent="0">
              <a:buNone/>
              <a:defRPr/>
            </a:pP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Academic Year: 2025–26</a:t>
            </a:r>
            <a:endParaRPr lang="en-US" sz="13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0D1B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1962547" name="Text 0"/>
          <p:cNvSpPr/>
          <p:nvPr/>
        </p:nvSpPr>
        <p:spPr bwMode="auto">
          <a:xfrm>
            <a:off x="50292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600" b="1" spc="300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INTRODUCTION</a:t>
            </a:r>
            <a:endParaRPr lang="en-US" sz="2600"/>
          </a:p>
        </p:txBody>
      </p:sp>
      <p:sp>
        <p:nvSpPr>
          <p:cNvPr id="2112533702" name="Shape 1"/>
          <p:cNvSpPr/>
          <p:nvPr/>
        </p:nvSpPr>
        <p:spPr bwMode="auto">
          <a:xfrm>
            <a:off x="365760" y="1005840"/>
            <a:ext cx="4206240" cy="3566160"/>
          </a:xfrm>
          <a:prstGeom prst="rect">
            <a:avLst/>
          </a:prstGeom>
          <a:solidFill>
            <a:srgbClr val="1B4F72"/>
          </a:solidFill>
          <a:ln/>
          <a:effectLst>
            <a:outerShdw blurRad="101600" dist="38100" dir="8100000" sx="100000" sy="100000" kx="0" ky="0" algn="bl" rotWithShape="0">
              <a:srgbClr val="000000">
                <a:alpha val="25000"/>
              </a:srgbClr>
            </a:outerShdw>
          </a:effectLst>
        </p:spPr>
      </p:sp>
      <p:sp>
        <p:nvSpPr>
          <p:cNvPr id="1479180367" name="Text 2"/>
          <p:cNvSpPr/>
          <p:nvPr/>
        </p:nvSpPr>
        <p:spPr bwMode="auto">
          <a:xfrm>
            <a:off x="502920" y="10972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PROBLEM STATEMENT</a:t>
            </a:r>
            <a:endParaRPr lang="en-US" sz="1200"/>
          </a:p>
        </p:txBody>
      </p:sp>
      <p:sp>
        <p:nvSpPr>
          <p:cNvPr id="1623404772" name="Text 3"/>
          <p:cNvSpPr/>
          <p:nvPr/>
        </p:nvSpPr>
        <p:spPr bwMode="auto">
          <a:xfrm>
            <a:off x="502920" y="1508759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Engineering education in digital electronics often stays theoretical — students study register files and memory hierarchies without building them at the hardware level.</a:t>
            </a:r>
            <a:endParaRPr lang="en-US" sz="1250"/>
          </a:p>
          <a:p>
            <a:pPr marL="0" indent="0">
              <a:buNone/>
              <a:defRPr/>
            </a:pPr>
            <a:endParaRPr lang="en-US" sz="1250"/>
          </a:p>
          <a:p>
            <a:pPr marL="0" indent="0">
              <a:buNone/>
              <a:defRPr/>
            </a:pPr>
            <a:r>
              <a:rPr lang="en-US"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This project addresses that gap by designing a 4×4 register file from discrete 74-series logic and a KiCad PCB, bridging classroom theory and hands-on engineering.</a:t>
            </a:r>
            <a:endParaRPr lang="en-US" sz="1250"/>
          </a:p>
        </p:txBody>
      </p:sp>
      <p:sp>
        <p:nvSpPr>
          <p:cNvPr id="1279190003" name="Shape 4"/>
          <p:cNvSpPr/>
          <p:nvPr/>
        </p:nvSpPr>
        <p:spPr bwMode="auto">
          <a:xfrm>
            <a:off x="4800600" y="1005840"/>
            <a:ext cx="3977640" cy="3566160"/>
          </a:xfrm>
          <a:prstGeom prst="rect">
            <a:avLst/>
          </a:prstGeom>
          <a:solidFill>
            <a:srgbClr val="1B4F72"/>
          </a:solidFill>
          <a:ln/>
          <a:effectLst>
            <a:outerShdw blurRad="101600" dist="38100" dir="8100000" sx="100000" sy="100000" kx="0" ky="0" algn="bl" rotWithShape="0">
              <a:srgbClr val="000000">
                <a:alpha val="25000"/>
              </a:srgbClr>
            </a:outerShdw>
          </a:effectLst>
        </p:spPr>
      </p:sp>
      <p:sp>
        <p:nvSpPr>
          <p:cNvPr id="1123195405" name="Text 5"/>
          <p:cNvSpPr/>
          <p:nvPr/>
        </p:nvSpPr>
        <p:spPr bwMode="auto">
          <a:xfrm>
            <a:off x="493776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TECHNICAL OBJECTIVE</a:t>
            </a:r>
            <a:endParaRPr lang="en-US" sz="1200"/>
          </a:p>
        </p:txBody>
      </p:sp>
      <p:sp>
        <p:nvSpPr>
          <p:cNvPr id="1934856532" name="Text 6"/>
          <p:cNvSpPr/>
          <p:nvPr/>
        </p:nvSpPr>
        <p:spPr bwMode="auto">
          <a:xfrm>
            <a:off x="4937760" y="1508759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Design a 4×4 addressable register file using 74-series TTL ICs, supporting:</a:t>
            </a:r>
            <a:br>
              <a:rPr lang="en-US"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</a:br>
            <a:br>
              <a:rPr lang="en-US"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</a:br>
            <a:r>
              <a:rPr lang="en-US" sz="1250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• Synchronous clock-triggered write</a:t>
            </a:r>
            <a:br>
              <a:rPr lang="en-US" sz="1250">
                <a:solidFill>
                  <a:srgbClr val="F5A623"/>
                </a:solidFill>
                <a:latin typeface="Calibri"/>
                <a:ea typeface="Calibri"/>
                <a:cs typeface="Calibri"/>
              </a:rPr>
            </a:br>
            <a:endParaRPr lang="en-US" sz="1250"/>
          </a:p>
          <a:p>
            <a:pPr marL="0" indent="0">
              <a:buNone/>
              <a:defRPr/>
            </a:pPr>
            <a:r>
              <a:rPr lang="en-US" sz="1250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• Tri-state bus-buffered read</a:t>
            </a:r>
            <a:br>
              <a:rPr lang="en-US" sz="1250">
                <a:solidFill>
                  <a:srgbClr val="F5A623"/>
                </a:solidFill>
                <a:latin typeface="Calibri"/>
                <a:ea typeface="Calibri"/>
                <a:cs typeface="Calibri"/>
              </a:rPr>
            </a:br>
            <a:endParaRPr lang="en-US" sz="1250"/>
          </a:p>
          <a:p>
            <a:pPr marL="0" indent="0">
              <a:buNone/>
              <a:defRPr/>
            </a:pPr>
            <a:r>
              <a:rPr lang="en-US" sz="1250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• Asynchronous active-low clear</a:t>
            </a:r>
            <a:br>
              <a:rPr lang="en-US" sz="1250">
                <a:solidFill>
                  <a:srgbClr val="F5A623"/>
                </a:solidFill>
                <a:latin typeface="Calibri"/>
                <a:ea typeface="Calibri"/>
                <a:cs typeface="Calibri"/>
              </a:rPr>
            </a:br>
            <a:br>
              <a:rPr lang="en-US" sz="1250">
                <a:solidFill>
                  <a:srgbClr val="F5A623"/>
                </a:solidFill>
                <a:latin typeface="Calibri"/>
                <a:ea typeface="Calibri"/>
                <a:cs typeface="Calibri"/>
              </a:rPr>
            </a:br>
            <a:endParaRPr lang="en-US" sz="1250"/>
          </a:p>
          <a:p>
            <a:pPr marL="0" indent="0">
              <a:buNone/>
              <a:defRPr/>
            </a:pPr>
            <a:r>
              <a:rPr lang="en-US"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Controlled via E-Switch inputs and a NE555P 0.5 Hz clock, implemented as a KiCad PCB.</a:t>
            </a:r>
            <a:endParaRPr lang="en-US" sz="1250"/>
          </a:p>
        </p:txBody>
      </p:sp>
      <p:sp>
        <p:nvSpPr>
          <p:cNvPr id="1614220219" name="Shape 7"/>
          <p:cNvSpPr/>
          <p:nvPr/>
        </p:nvSpPr>
        <p:spPr bwMode="auto">
          <a:xfrm>
            <a:off x="365760" y="4663440"/>
            <a:ext cx="8412480" cy="32004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52454333" name="Text 8"/>
          <p:cNvSpPr/>
          <p:nvPr/>
        </p:nvSpPr>
        <p:spPr bwMode="auto"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0D1B2A"/>
                </a:solidFill>
                <a:latin typeface="Calibri"/>
                <a:ea typeface="Calibri"/>
                <a:cs typeface="Calibri"/>
              </a:rPr>
              <a:t>PBL Category: Digital Electronics / Memory Systems  |  DoEEE FY-Btech E&amp;CE 2025-26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0D1B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048354" name="Text 0"/>
          <p:cNvSpPr/>
          <p:nvPr/>
        </p:nvSpPr>
        <p:spPr bwMode="auto">
          <a:xfrm>
            <a:off x="50292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600" b="1" spc="300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PROJECT OBJECTIVES</a:t>
            </a:r>
            <a:endParaRPr lang="en-US" sz="2600"/>
          </a:p>
        </p:txBody>
      </p:sp>
      <p:sp>
        <p:nvSpPr>
          <p:cNvPr id="1535815021" name="Shape 1"/>
          <p:cNvSpPr/>
          <p:nvPr/>
        </p:nvSpPr>
        <p:spPr bwMode="auto">
          <a:xfrm>
            <a:off x="365760" y="1005840"/>
            <a:ext cx="73152" cy="77724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746118757" name="Text 2"/>
          <p:cNvSpPr/>
          <p:nvPr/>
        </p:nvSpPr>
        <p:spPr bwMode="auto">
          <a:xfrm>
            <a:off x="530352" y="10058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Design the Register Array</a:t>
            </a:r>
            <a:endParaRPr lang="en-US" sz="1300"/>
          </a:p>
        </p:txBody>
      </p:sp>
      <p:sp>
        <p:nvSpPr>
          <p:cNvPr id="1936761714" name="Text 3"/>
          <p:cNvSpPr/>
          <p:nvPr/>
        </p:nvSpPr>
        <p:spPr bwMode="auto">
          <a:xfrm>
            <a:off x="530352" y="1344168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DCE3EA"/>
                </a:solidFill>
                <a:latin typeface="Calibri"/>
                <a:ea typeface="Calibri"/>
                <a:cs typeface="Calibri"/>
              </a:rPr>
              <a:t>Build a 4-row × 4-bit register file using four SN74LS175N quad D flip-flops with common clock and active-low asynchronous clear.</a:t>
            </a:r>
            <a:endParaRPr lang="en-US" sz="1150"/>
          </a:p>
        </p:txBody>
      </p:sp>
      <p:sp>
        <p:nvSpPr>
          <p:cNvPr id="165475198" name="Shape 4"/>
          <p:cNvSpPr/>
          <p:nvPr/>
        </p:nvSpPr>
        <p:spPr bwMode="auto">
          <a:xfrm>
            <a:off x="365760" y="1965960"/>
            <a:ext cx="73152" cy="777240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25132975" name="Text 5"/>
          <p:cNvSpPr/>
          <p:nvPr/>
        </p:nvSpPr>
        <p:spPr bwMode="auto">
          <a:xfrm>
            <a:off x="530352" y="19659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4FC3F7"/>
                </a:solidFill>
                <a:latin typeface="Calibri"/>
                <a:ea typeface="Calibri"/>
                <a:cs typeface="Calibri"/>
              </a:rPr>
              <a:t>Implement Address Decoding</a:t>
            </a:r>
            <a:endParaRPr lang="en-US" sz="1300"/>
          </a:p>
        </p:txBody>
      </p:sp>
      <p:sp>
        <p:nvSpPr>
          <p:cNvPr id="1512916751" name="Text 6"/>
          <p:cNvSpPr/>
          <p:nvPr/>
        </p:nvSpPr>
        <p:spPr bwMode="auto">
          <a:xfrm>
            <a:off x="530352" y="2304288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DCE3EA"/>
                </a:solidFill>
                <a:latin typeface="Calibri"/>
                <a:ea typeface="Calibri"/>
                <a:cs typeface="Calibri"/>
              </a:rPr>
              <a:t>Use SN74LS139AN (2-to-4 decoder) to select one of four registers based on a 2-bit address (A0, A1).</a:t>
            </a:r>
            <a:endParaRPr lang="en-US" sz="1150"/>
          </a:p>
        </p:txBody>
      </p:sp>
      <p:sp>
        <p:nvSpPr>
          <p:cNvPr id="1461979301" name="Shape 7"/>
          <p:cNvSpPr/>
          <p:nvPr/>
        </p:nvSpPr>
        <p:spPr bwMode="auto">
          <a:xfrm>
            <a:off x="365760" y="2926080"/>
            <a:ext cx="73152" cy="777240"/>
          </a:xfrm>
          <a:prstGeom prst="rect">
            <a:avLst/>
          </a:prstGeom>
          <a:solidFill>
            <a:srgbClr val="81C784"/>
          </a:solidFill>
          <a:ln/>
        </p:spPr>
      </p:sp>
      <p:sp>
        <p:nvSpPr>
          <p:cNvPr id="1785988600" name="Text 8"/>
          <p:cNvSpPr/>
          <p:nvPr/>
        </p:nvSpPr>
        <p:spPr bwMode="auto">
          <a:xfrm>
            <a:off x="530352" y="29260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81C784"/>
                </a:solidFill>
                <a:latin typeface="Calibri"/>
                <a:ea typeface="Calibri"/>
                <a:cs typeface="Calibri"/>
              </a:rPr>
              <a:t>Single RW Control</a:t>
            </a:r>
            <a:endParaRPr lang="en-US" sz="1300"/>
          </a:p>
        </p:txBody>
      </p:sp>
      <p:sp>
        <p:nvSpPr>
          <p:cNvPr id="1070234247" name="Text 9"/>
          <p:cNvSpPr/>
          <p:nvPr/>
        </p:nvSpPr>
        <p:spPr bwMode="auto">
          <a:xfrm>
            <a:off x="530352" y="3264408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DCE3EA"/>
                </a:solidFill>
                <a:latin typeface="Calibri"/>
                <a:ea typeface="Calibri"/>
                <a:cs typeface="Calibri"/>
              </a:rPr>
              <a:t>RW=0 (default) = Read mode; RW=1 (SWW1 pressed) = Write mode. One push-button controls the mode.</a:t>
            </a:r>
            <a:endParaRPr lang="en-US" sz="1150"/>
          </a:p>
        </p:txBody>
      </p:sp>
      <p:sp>
        <p:nvSpPr>
          <p:cNvPr id="616744140" name="Shape 10"/>
          <p:cNvSpPr/>
          <p:nvPr/>
        </p:nvSpPr>
        <p:spPr bwMode="auto">
          <a:xfrm>
            <a:off x="4754880" y="1005840"/>
            <a:ext cx="73152" cy="777240"/>
          </a:xfrm>
          <a:prstGeom prst="rect">
            <a:avLst/>
          </a:prstGeom>
          <a:solidFill>
            <a:srgbClr val="FFB74D"/>
          </a:solidFill>
          <a:ln/>
        </p:spPr>
      </p:sp>
      <p:sp>
        <p:nvSpPr>
          <p:cNvPr id="102145944" name="Text 11"/>
          <p:cNvSpPr/>
          <p:nvPr/>
        </p:nvSpPr>
        <p:spPr bwMode="auto">
          <a:xfrm>
            <a:off x="4919471" y="10058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FB74D"/>
                </a:solidFill>
                <a:latin typeface="Calibri"/>
                <a:ea typeface="Calibri"/>
                <a:cs typeface="Calibri"/>
              </a:rPr>
              <a:t>Astable Clock Generation</a:t>
            </a:r>
            <a:endParaRPr lang="en-US" sz="1300"/>
          </a:p>
        </p:txBody>
      </p:sp>
      <p:sp>
        <p:nvSpPr>
          <p:cNvPr id="142865631" name="Text 12"/>
          <p:cNvSpPr/>
          <p:nvPr/>
        </p:nvSpPr>
        <p:spPr bwMode="auto">
          <a:xfrm>
            <a:off x="4919471" y="1344168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DCE3EA"/>
                </a:solidFill>
                <a:latin typeface="Calibri"/>
                <a:ea typeface="Calibri"/>
                <a:cs typeface="Calibri"/>
              </a:rPr>
              <a:t>Generate a 0.5 Hz square-wave clock with the NE555P in astable mode (R1=10 kΩ, R2=68 kΩ, C=20 µF) for step-by-step observation.</a:t>
            </a:r>
            <a:endParaRPr lang="en-US" sz="1150"/>
          </a:p>
        </p:txBody>
      </p:sp>
      <p:sp>
        <p:nvSpPr>
          <p:cNvPr id="560147400" name="Shape 13"/>
          <p:cNvSpPr/>
          <p:nvPr/>
        </p:nvSpPr>
        <p:spPr bwMode="auto">
          <a:xfrm>
            <a:off x="4754880" y="1965960"/>
            <a:ext cx="73152" cy="777240"/>
          </a:xfrm>
          <a:prstGeom prst="rect">
            <a:avLst/>
          </a:prstGeom>
          <a:solidFill>
            <a:srgbClr val="CE93D8"/>
          </a:solidFill>
          <a:ln/>
        </p:spPr>
      </p:sp>
      <p:sp>
        <p:nvSpPr>
          <p:cNvPr id="999248239" name="Text 14"/>
          <p:cNvSpPr/>
          <p:nvPr/>
        </p:nvSpPr>
        <p:spPr bwMode="auto">
          <a:xfrm>
            <a:off x="4919471" y="19659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CE93D8"/>
                </a:solidFill>
                <a:latin typeface="Calibri"/>
                <a:ea typeface="Calibri"/>
                <a:cs typeface="Calibri"/>
              </a:rPr>
              <a:t>PCB Fabrication Ready</a:t>
            </a:r>
            <a:endParaRPr lang="en-US" sz="1300"/>
          </a:p>
        </p:txBody>
      </p:sp>
      <p:sp>
        <p:nvSpPr>
          <p:cNvPr id="1789400854" name="Text 15"/>
          <p:cNvSpPr/>
          <p:nvPr/>
        </p:nvSpPr>
        <p:spPr bwMode="auto">
          <a:xfrm>
            <a:off x="4919471" y="2304288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DCE3EA"/>
                </a:solidFill>
                <a:latin typeface="Calibri"/>
                <a:ea typeface="Calibri"/>
                <a:cs typeface="Calibri"/>
              </a:rPr>
              <a:t>Produce a verified KiCad PCB layout (RAM-project-001) with 31 components ready for fabrication.</a:t>
            </a:r>
            <a:endParaRPr lang="en-US" sz="11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0D1B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6766984" name="Text 0"/>
          <p:cNvSpPr/>
          <p:nvPr/>
        </p:nvSpPr>
        <p:spPr bwMode="auto">
          <a:xfrm>
            <a:off x="50292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600" b="1" spc="300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BACKGROUND THEORY</a:t>
            </a:r>
            <a:endParaRPr lang="en-US" sz="2600"/>
          </a:p>
        </p:txBody>
      </p:sp>
      <p:sp>
        <p:nvSpPr>
          <p:cNvPr id="759949164" name="Shape 1"/>
          <p:cNvSpPr/>
          <p:nvPr/>
        </p:nvSpPr>
        <p:spPr bwMode="auto">
          <a:xfrm>
            <a:off x="365760" y="1005840"/>
            <a:ext cx="4160519" cy="1783080"/>
          </a:xfrm>
          <a:prstGeom prst="rect">
            <a:avLst/>
          </a:prstGeom>
          <a:solidFill>
            <a:srgbClr val="1B4F72"/>
          </a:solidFill>
          <a:ln/>
          <a:effectLst>
            <a:outerShdw blurRad="76200" dist="25400" dir="8100000" sx="100000" sy="100000" kx="0" ky="0" algn="bl" rotWithShape="0">
              <a:srgbClr val="000000">
                <a:alpha val="20000"/>
              </a:srgbClr>
            </a:outerShdw>
          </a:effectLst>
        </p:spPr>
      </p:sp>
      <p:sp>
        <p:nvSpPr>
          <p:cNvPr id="1744434051" name="Text 2"/>
          <p:cNvSpPr/>
          <p:nvPr/>
        </p:nvSpPr>
        <p:spPr bwMode="auto">
          <a:xfrm>
            <a:off x="502920" y="109728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Register File Architecture</a:t>
            </a:r>
            <a:endParaRPr lang="en-US" sz="1250"/>
          </a:p>
        </p:txBody>
      </p:sp>
      <p:sp>
        <p:nvSpPr>
          <p:cNvPr id="609661100" name="Text 3"/>
          <p:cNvSpPr/>
          <p:nvPr/>
        </p:nvSpPr>
        <p:spPr bwMode="auto">
          <a:xfrm>
            <a:off x="502920" y="1481328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Consists of register array, address decoder, write-enable logic, and read bus. Write cycle (RW=1): decoder activates register CLK; data latched on rising edge. Read cycle (RW=0): tri-state buffers drive shared bus.</a:t>
            </a:r>
            <a:endParaRPr lang="en-US" sz="1200"/>
          </a:p>
        </p:txBody>
      </p:sp>
      <p:sp>
        <p:nvSpPr>
          <p:cNvPr id="981926105" name="Shape 4"/>
          <p:cNvSpPr/>
          <p:nvPr/>
        </p:nvSpPr>
        <p:spPr bwMode="auto">
          <a:xfrm>
            <a:off x="365760" y="2971800"/>
            <a:ext cx="4160519" cy="1783080"/>
          </a:xfrm>
          <a:prstGeom prst="rect">
            <a:avLst/>
          </a:prstGeom>
          <a:solidFill>
            <a:srgbClr val="1B4F72"/>
          </a:solidFill>
          <a:ln/>
          <a:effectLst>
            <a:outerShdw blurRad="76200" dist="25400" dir="8100000" sx="100000" sy="100000" kx="0" ky="0" algn="bl" rotWithShape="0">
              <a:srgbClr val="000000">
                <a:alpha val="20000"/>
              </a:srgbClr>
            </a:outerShdw>
          </a:effectLst>
        </p:spPr>
      </p:sp>
      <p:sp>
        <p:nvSpPr>
          <p:cNvPr id="180131844" name="Text 5"/>
          <p:cNvSpPr/>
          <p:nvPr/>
        </p:nvSpPr>
        <p:spPr bwMode="auto">
          <a:xfrm>
            <a:off x="502920" y="306324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SN74LS175N — Quad D Flip-Flop</a:t>
            </a:r>
            <a:endParaRPr lang="en-US" sz="1250"/>
          </a:p>
        </p:txBody>
      </p:sp>
      <p:sp>
        <p:nvSpPr>
          <p:cNvPr id="341031666" name="Text 6"/>
          <p:cNvSpPr/>
          <p:nvPr/>
        </p:nvSpPr>
        <p:spPr bwMode="auto">
          <a:xfrm>
            <a:off x="502920" y="3447288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Positive-edge-triggered with common CLK and active-low asynchronous CLR. Transfers D→Q on each rising clock edge. CLR\ LOW immediately resets all Q to 0.</a:t>
            </a:r>
            <a:endParaRPr lang="en-US" sz="1200"/>
          </a:p>
        </p:txBody>
      </p:sp>
      <p:sp>
        <p:nvSpPr>
          <p:cNvPr id="755821289" name="Shape 7"/>
          <p:cNvSpPr/>
          <p:nvPr/>
        </p:nvSpPr>
        <p:spPr bwMode="auto">
          <a:xfrm>
            <a:off x="4754880" y="1005840"/>
            <a:ext cx="4160519" cy="1783080"/>
          </a:xfrm>
          <a:prstGeom prst="rect">
            <a:avLst/>
          </a:prstGeom>
          <a:solidFill>
            <a:srgbClr val="1B4F72"/>
          </a:solidFill>
          <a:ln/>
          <a:effectLst>
            <a:outerShdw blurRad="76200" dist="25400" dir="8100000" sx="100000" sy="100000" kx="0" ky="0" algn="bl" rotWithShape="0">
              <a:srgbClr val="000000">
                <a:alpha val="20000"/>
              </a:srgbClr>
            </a:outerShdw>
          </a:effectLst>
        </p:spPr>
      </p:sp>
      <p:sp>
        <p:nvSpPr>
          <p:cNvPr id="1649376610" name="Text 8"/>
          <p:cNvSpPr/>
          <p:nvPr/>
        </p:nvSpPr>
        <p:spPr bwMode="auto">
          <a:xfrm>
            <a:off x="4892039" y="109728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SN74LS139AN — 2-to-4 Decoder</a:t>
            </a:r>
            <a:endParaRPr lang="en-US" sz="1250"/>
          </a:p>
        </p:txBody>
      </p:sp>
      <p:sp>
        <p:nvSpPr>
          <p:cNvPr id="202423968" name="Text 9"/>
          <p:cNvSpPr/>
          <p:nvPr/>
        </p:nvSpPr>
        <p:spPr bwMode="auto">
          <a:xfrm>
            <a:off x="4892039" y="1481328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Two independent decoders. Active-low G\ pin enabled by RW=0. Exactly one of four active-low outputs drives the selected register's clock-gate and buffer-enable lines.</a:t>
            </a:r>
            <a:endParaRPr lang="en-US" sz="1200"/>
          </a:p>
        </p:txBody>
      </p:sp>
      <p:sp>
        <p:nvSpPr>
          <p:cNvPr id="1700045429" name="Shape 10"/>
          <p:cNvSpPr/>
          <p:nvPr/>
        </p:nvSpPr>
        <p:spPr bwMode="auto">
          <a:xfrm>
            <a:off x="4754880" y="2971800"/>
            <a:ext cx="4160519" cy="1783080"/>
          </a:xfrm>
          <a:prstGeom prst="rect">
            <a:avLst/>
          </a:prstGeom>
          <a:solidFill>
            <a:srgbClr val="1B4F72"/>
          </a:solidFill>
          <a:ln/>
          <a:effectLst>
            <a:outerShdw blurRad="76200" dist="25400" dir="8100000" sx="100000" sy="100000" kx="0" ky="0" algn="bl" rotWithShape="0">
              <a:srgbClr val="000000">
                <a:alpha val="20000"/>
              </a:srgbClr>
            </a:outerShdw>
          </a:effectLst>
        </p:spPr>
      </p:sp>
      <p:sp>
        <p:nvSpPr>
          <p:cNvPr id="685963176" name="Text 11"/>
          <p:cNvSpPr/>
          <p:nvPr/>
        </p:nvSpPr>
        <p:spPr bwMode="auto">
          <a:xfrm>
            <a:off x="4892039" y="306324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SN74LS244N — Tri-State Buffer</a:t>
            </a:r>
            <a:endParaRPr lang="en-US" sz="1250"/>
          </a:p>
        </p:txBody>
      </p:sp>
      <p:sp>
        <p:nvSpPr>
          <p:cNvPr id="530231614" name="Text 12"/>
          <p:cNvSpPr/>
          <p:nvPr/>
        </p:nvSpPr>
        <p:spPr bwMode="auto">
          <a:xfrm>
            <a:off x="4892039" y="3447288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Octal non-inverting buffer with two 4-channel groups. Active-low enable (G\) connects groups to decoder outputs. High-Z state prevents bus contention.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0D1B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107406" name="Text 0"/>
          <p:cNvSpPr/>
          <p:nvPr/>
        </p:nvSpPr>
        <p:spPr bwMode="auto">
          <a:xfrm>
            <a:off x="50292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600" b="1" spc="300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PROJECT METHODOLOGY</a:t>
            </a:r>
            <a:endParaRPr lang="en-US" sz="2600"/>
          </a:p>
        </p:txBody>
      </p:sp>
      <p:sp>
        <p:nvSpPr>
          <p:cNvPr id="1831470666" name="Shape 1"/>
          <p:cNvSpPr/>
          <p:nvPr/>
        </p:nvSpPr>
        <p:spPr bwMode="auto">
          <a:xfrm>
            <a:off x="365760" y="960120"/>
            <a:ext cx="640080" cy="59436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810382260" name="Text 2"/>
          <p:cNvSpPr/>
          <p:nvPr/>
        </p:nvSpPr>
        <p:spPr bwMode="auto">
          <a:xfrm>
            <a:off x="365760" y="96012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0D1B2A"/>
                </a:solidFill>
                <a:latin typeface="Calibri"/>
                <a:ea typeface="Calibri"/>
                <a:cs typeface="Calibri"/>
              </a:rPr>
              <a:t>01</a:t>
            </a:r>
            <a:endParaRPr lang="en-US" sz="1800"/>
          </a:p>
        </p:txBody>
      </p:sp>
      <p:sp>
        <p:nvSpPr>
          <p:cNvPr id="181037916" name="Text 3"/>
          <p:cNvSpPr/>
          <p:nvPr/>
        </p:nvSpPr>
        <p:spPr bwMode="auto">
          <a:xfrm>
            <a:off x="1143000" y="9784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Literature Review</a:t>
            </a:r>
            <a:endParaRPr lang="en-US" sz="1250"/>
          </a:p>
        </p:txBody>
      </p:sp>
      <p:sp>
        <p:nvSpPr>
          <p:cNvPr id="433746910" name="Text 4"/>
          <p:cNvSpPr/>
          <p:nvPr/>
        </p:nvSpPr>
        <p:spPr bwMode="auto">
          <a:xfrm>
            <a:off x="1143000" y="1252728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DCE3EA"/>
                </a:solidFill>
                <a:latin typeface="Calibri"/>
                <a:ea typeface="Calibri"/>
                <a:cs typeface="Calibri"/>
              </a:rPr>
              <a:t>Studied Patterson &amp; Hennessy (Computer Org. &amp; Design) and Mano &amp; Ciletti (Digital Design) for register file architecture and TTL IC datasheets.</a:t>
            </a:r>
            <a:endParaRPr lang="en-US" sz="1200"/>
          </a:p>
        </p:txBody>
      </p:sp>
      <p:sp>
        <p:nvSpPr>
          <p:cNvPr id="962434863" name="Shape 5"/>
          <p:cNvSpPr/>
          <p:nvPr/>
        </p:nvSpPr>
        <p:spPr bwMode="auto">
          <a:xfrm>
            <a:off x="667512" y="1554480"/>
            <a:ext cx="0" cy="201168"/>
          </a:xfrm>
          <a:prstGeom prst="line">
            <a:avLst/>
          </a:prstGeom>
          <a:noFill/>
          <a:ln w="19050">
            <a:solidFill>
              <a:srgbClr val="F5A623"/>
            </a:solidFill>
            <a:prstDash val="dash"/>
          </a:ln>
        </p:spPr>
      </p:sp>
      <p:sp>
        <p:nvSpPr>
          <p:cNvPr id="1218460261" name="Shape 6"/>
          <p:cNvSpPr/>
          <p:nvPr/>
        </p:nvSpPr>
        <p:spPr bwMode="auto">
          <a:xfrm>
            <a:off x="365760" y="1764792"/>
            <a:ext cx="640080" cy="59436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966560527" name="Text 7"/>
          <p:cNvSpPr/>
          <p:nvPr/>
        </p:nvSpPr>
        <p:spPr bwMode="auto">
          <a:xfrm>
            <a:off x="365760" y="176479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0D1B2A"/>
                </a:solidFill>
                <a:latin typeface="Calibri"/>
                <a:ea typeface="Calibri"/>
                <a:cs typeface="Calibri"/>
              </a:rPr>
              <a:t>02</a:t>
            </a:r>
            <a:endParaRPr lang="en-US" sz="1800"/>
          </a:p>
        </p:txBody>
      </p:sp>
      <p:sp>
        <p:nvSpPr>
          <p:cNvPr id="1707804240" name="Text 8"/>
          <p:cNvSpPr/>
          <p:nvPr/>
        </p:nvSpPr>
        <p:spPr bwMode="auto">
          <a:xfrm>
            <a:off x="1143000" y="1783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Logisim Simulation</a:t>
            </a:r>
            <a:endParaRPr lang="en-US" sz="1250"/>
          </a:p>
        </p:txBody>
      </p:sp>
      <p:sp>
        <p:nvSpPr>
          <p:cNvPr id="765424260" name="Text 9"/>
          <p:cNvSpPr/>
          <p:nvPr/>
        </p:nvSpPr>
        <p:spPr bwMode="auto">
          <a:xfrm>
            <a:off x="1143000" y="2057400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DCE3EA"/>
                </a:solidFill>
                <a:latin typeface="Calibri"/>
                <a:ea typeface="Calibri"/>
                <a:cs typeface="Calibri"/>
              </a:rPr>
              <a:t>Built and verified the full register file in Logisim — all read/write/clear operations confirmed across 4 register rows.</a:t>
            </a:r>
            <a:endParaRPr lang="en-US" sz="1200"/>
          </a:p>
        </p:txBody>
      </p:sp>
      <p:sp>
        <p:nvSpPr>
          <p:cNvPr id="311498588" name="Shape 10"/>
          <p:cNvSpPr/>
          <p:nvPr/>
        </p:nvSpPr>
        <p:spPr bwMode="auto">
          <a:xfrm>
            <a:off x="667512" y="2359152"/>
            <a:ext cx="0" cy="201168"/>
          </a:xfrm>
          <a:prstGeom prst="line">
            <a:avLst/>
          </a:prstGeom>
          <a:noFill/>
          <a:ln w="19050">
            <a:solidFill>
              <a:srgbClr val="F5A623"/>
            </a:solidFill>
            <a:prstDash val="dash"/>
          </a:ln>
        </p:spPr>
      </p:sp>
      <p:sp>
        <p:nvSpPr>
          <p:cNvPr id="1112606175" name="Shape 11"/>
          <p:cNvSpPr/>
          <p:nvPr/>
        </p:nvSpPr>
        <p:spPr bwMode="auto">
          <a:xfrm>
            <a:off x="365760" y="2569464"/>
            <a:ext cx="640080" cy="59436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157272827" name="Text 12"/>
          <p:cNvSpPr/>
          <p:nvPr/>
        </p:nvSpPr>
        <p:spPr bwMode="auto">
          <a:xfrm>
            <a:off x="365760" y="2569464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0D1B2A"/>
                </a:solidFill>
                <a:latin typeface="Calibri"/>
                <a:ea typeface="Calibri"/>
                <a:cs typeface="Calibri"/>
              </a:rPr>
              <a:t>03</a:t>
            </a:r>
            <a:endParaRPr lang="en-US" sz="1800"/>
          </a:p>
        </p:txBody>
      </p:sp>
      <p:sp>
        <p:nvSpPr>
          <p:cNvPr id="553847676" name="Text 13"/>
          <p:cNvSpPr/>
          <p:nvPr/>
        </p:nvSpPr>
        <p:spPr bwMode="auto">
          <a:xfrm>
            <a:off x="1143000" y="25877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Prototype Breadboard</a:t>
            </a:r>
            <a:endParaRPr lang="en-US" sz="1250"/>
          </a:p>
        </p:txBody>
      </p:sp>
      <p:sp>
        <p:nvSpPr>
          <p:cNvPr id="471115328" name="Text 14"/>
          <p:cNvSpPr/>
          <p:nvPr/>
        </p:nvSpPr>
        <p:spPr bwMode="auto">
          <a:xfrm>
            <a:off x="1143000" y="2862072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DCE3EA"/>
                </a:solidFill>
                <a:latin typeface="Calibri"/>
                <a:ea typeface="Calibri"/>
                <a:cs typeface="Calibri"/>
              </a:rPr>
              <a:t>Initial hardware prototype with ~30 ICs → optimised to 9 ICs by refining clock-gating and buffer logic.</a:t>
            </a:r>
            <a:endParaRPr lang="en-US" sz="1200"/>
          </a:p>
        </p:txBody>
      </p:sp>
      <p:sp>
        <p:nvSpPr>
          <p:cNvPr id="792547599" name="Shape 15"/>
          <p:cNvSpPr/>
          <p:nvPr/>
        </p:nvSpPr>
        <p:spPr bwMode="auto">
          <a:xfrm>
            <a:off x="667512" y="3163824"/>
            <a:ext cx="0" cy="201168"/>
          </a:xfrm>
          <a:prstGeom prst="line">
            <a:avLst/>
          </a:prstGeom>
          <a:noFill/>
          <a:ln w="19050">
            <a:solidFill>
              <a:srgbClr val="F5A623"/>
            </a:solidFill>
            <a:prstDash val="dash"/>
          </a:ln>
        </p:spPr>
      </p:sp>
      <p:sp>
        <p:nvSpPr>
          <p:cNvPr id="259999137" name="Shape 16"/>
          <p:cNvSpPr/>
          <p:nvPr/>
        </p:nvSpPr>
        <p:spPr bwMode="auto">
          <a:xfrm>
            <a:off x="365760" y="3374136"/>
            <a:ext cx="640080" cy="59436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635270918" name="Text 17"/>
          <p:cNvSpPr/>
          <p:nvPr/>
        </p:nvSpPr>
        <p:spPr bwMode="auto">
          <a:xfrm>
            <a:off x="365760" y="3374136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0D1B2A"/>
                </a:solidFill>
                <a:latin typeface="Calibri"/>
                <a:ea typeface="Calibri"/>
                <a:cs typeface="Calibri"/>
              </a:rPr>
              <a:t>04</a:t>
            </a:r>
            <a:endParaRPr lang="en-US" sz="1800"/>
          </a:p>
        </p:txBody>
      </p:sp>
      <p:sp>
        <p:nvSpPr>
          <p:cNvPr id="1683707838" name="Text 18"/>
          <p:cNvSpPr/>
          <p:nvPr/>
        </p:nvSpPr>
        <p:spPr bwMode="auto">
          <a:xfrm>
            <a:off x="1143000" y="339242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KiCad PCB Design</a:t>
            </a:r>
            <a:endParaRPr lang="en-US" sz="1250"/>
          </a:p>
        </p:txBody>
      </p:sp>
      <p:sp>
        <p:nvSpPr>
          <p:cNvPr id="319719400" name="Text 19"/>
          <p:cNvSpPr/>
          <p:nvPr/>
        </p:nvSpPr>
        <p:spPr bwMode="auto">
          <a:xfrm>
            <a:off x="1143000" y="3666744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DCE3EA"/>
                </a:solidFill>
                <a:latin typeface="Calibri"/>
                <a:ea typeface="Calibri"/>
                <a:cs typeface="Calibri"/>
              </a:rPr>
              <a:t>Designed PCB layout RAM-project-001 in KiCad — routed 31 components across 2 copper layers with DRC clearance.</a:t>
            </a:r>
            <a:endParaRPr lang="en-US" sz="1200"/>
          </a:p>
        </p:txBody>
      </p:sp>
      <p:sp>
        <p:nvSpPr>
          <p:cNvPr id="1666335508" name="Shape 20"/>
          <p:cNvSpPr/>
          <p:nvPr/>
        </p:nvSpPr>
        <p:spPr bwMode="auto">
          <a:xfrm>
            <a:off x="667512" y="3968496"/>
            <a:ext cx="0" cy="201168"/>
          </a:xfrm>
          <a:prstGeom prst="line">
            <a:avLst/>
          </a:prstGeom>
          <a:noFill/>
          <a:ln w="19050">
            <a:solidFill>
              <a:srgbClr val="F5A623"/>
            </a:solidFill>
            <a:prstDash val="dash"/>
          </a:ln>
        </p:spPr>
      </p:sp>
      <p:sp>
        <p:nvSpPr>
          <p:cNvPr id="1867466163" name="Shape 21"/>
          <p:cNvSpPr/>
          <p:nvPr/>
        </p:nvSpPr>
        <p:spPr bwMode="auto">
          <a:xfrm>
            <a:off x="365760" y="4178808"/>
            <a:ext cx="640080" cy="59436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14818393" name="Text 22"/>
          <p:cNvSpPr/>
          <p:nvPr/>
        </p:nvSpPr>
        <p:spPr bwMode="auto">
          <a:xfrm>
            <a:off x="365760" y="4178808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0D1B2A"/>
                </a:solidFill>
                <a:latin typeface="Calibri"/>
                <a:ea typeface="Calibri"/>
                <a:cs typeface="Calibri"/>
              </a:rPr>
              <a:t>05</a:t>
            </a:r>
            <a:endParaRPr lang="en-US" sz="1800"/>
          </a:p>
        </p:txBody>
      </p:sp>
      <p:sp>
        <p:nvSpPr>
          <p:cNvPr id="932945693" name="Text 23"/>
          <p:cNvSpPr/>
          <p:nvPr/>
        </p:nvSpPr>
        <p:spPr bwMode="auto">
          <a:xfrm>
            <a:off x="1143000" y="41970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Functional Testing</a:t>
            </a:r>
            <a:endParaRPr lang="en-US" sz="1250"/>
          </a:p>
        </p:txBody>
      </p:sp>
      <p:sp>
        <p:nvSpPr>
          <p:cNvPr id="610200439" name="Text 24"/>
          <p:cNvSpPr/>
          <p:nvPr/>
        </p:nvSpPr>
        <p:spPr bwMode="auto">
          <a:xfrm>
            <a:off x="1143000" y="4471416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DCE3EA"/>
                </a:solidFill>
                <a:latin typeface="Calibri"/>
                <a:ea typeface="Calibri"/>
                <a:cs typeface="Calibri"/>
              </a:rPr>
              <a:t>Verified all system modes: write to each address, read back, clear. 100% test-case pass rate confirmed.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0D1B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548636" name="Text 0"/>
          <p:cNvSpPr/>
          <p:nvPr/>
        </p:nvSpPr>
        <p:spPr bwMode="auto">
          <a:xfrm>
            <a:off x="50292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600" b="1" spc="300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SYSTEM DESIGN — IC INVENTORY</a:t>
            </a:r>
            <a:endParaRPr lang="en-US" sz="2600"/>
          </a:p>
        </p:txBody>
      </p:sp>
      <p:graphicFrame>
        <p:nvGraphicFramePr>
          <p:cNvPr id="1340498583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320040" y="960120"/>
          <a:ext cx="8503920" cy="9144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645920"/>
                <a:gridCol w="1417320"/>
                <a:gridCol w="2148840"/>
                <a:gridCol w="502920"/>
                <a:gridCol w="2788920"/>
              </a:tblGrid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 b="1">
                          <a:solidFill>
                            <a:srgbClr val="0D1B2A"/>
                          </a:solidFill>
                          <a:latin typeface="Calibri"/>
                          <a:ea typeface="Calibri"/>
                          <a:cs typeface="Calibri"/>
                        </a:rPr>
                        <a:t>KiCad Ref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F5A623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 b="1">
                          <a:solidFill>
                            <a:srgbClr val="0D1B2A"/>
                          </a:solidFill>
                          <a:latin typeface="Calibri"/>
                          <a:ea typeface="Calibri"/>
                          <a:cs typeface="Calibri"/>
                        </a:rPr>
                        <a:t>Part No.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F5A623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 b="1">
                          <a:solidFill>
                            <a:srgbClr val="0D1B2A"/>
                          </a:solidFill>
                          <a:latin typeface="Calibri"/>
                          <a:ea typeface="Calibri"/>
                          <a:cs typeface="Calibri"/>
                        </a:rPr>
                        <a:t>Description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F5A623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 b="1">
                          <a:solidFill>
                            <a:srgbClr val="0D1B2A"/>
                          </a:solidFill>
                          <a:latin typeface="Calibri"/>
                          <a:ea typeface="Calibri"/>
                          <a:cs typeface="Calibri"/>
                        </a:rPr>
                        <a:t>Qty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F5A623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 b="1">
                          <a:solidFill>
                            <a:srgbClr val="0D1B2A"/>
                          </a:solidFill>
                          <a:latin typeface="Calibri"/>
                          <a:ea typeface="Calibri"/>
                          <a:cs typeface="Calibri"/>
                        </a:rPr>
                        <a:t>Role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F5A623"/>
                    </a:solidFill>
                  </a:tcPr>
                </a:tc>
              </a:tr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A7408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SN74LS08N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Quad AND, DIP-14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Write-enable clock gating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B074244, B174244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SN74LS244N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Octal 3-State Buffer, DIP-20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Read bus multiplexer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</a:tr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CNE555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NE555P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555 Timer, DIP-8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0.5 Hz astable clock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D74139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SN74LS139AN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Dual 2-to-4 Decoder, DIP-16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Address decoding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</a:tr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D074175–D374175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SN74LS175N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Quad D Flip-Flop, DIP-16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4-bit registers (one/row)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N7402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SN7402N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Quad NOR, DIP-14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Row-select clock gating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</a:tr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O7432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SN7432N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Quad OR, DIP-14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Asynchronous clear logic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63500" marB="635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1849725309" name="Shape 1"/>
          <p:cNvSpPr/>
          <p:nvPr/>
        </p:nvSpPr>
        <p:spPr bwMode="auto">
          <a:xfrm>
            <a:off x="320040" y="4343400"/>
            <a:ext cx="8503920" cy="64008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526394050" name="Text 2"/>
          <p:cNvSpPr/>
          <p:nvPr/>
        </p:nvSpPr>
        <p:spPr bwMode="auto">
          <a:xfrm>
            <a:off x="320040" y="434340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0D1B2A"/>
                </a:solidFill>
                <a:latin typeface="Calibri"/>
                <a:ea typeface="Calibri"/>
                <a:cs typeface="Calibri"/>
              </a:rPr>
              <a:t>Total: 11 ICs  |  8 Switches  |  4 LEDs  |  6 Resistors  |  2 Capacitors  =  31 Components  |  Single +5V Supply</a:t>
            </a:r>
            <a:endParaRPr lang="en-US" sz="13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0D1B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7756376" name="Text 0"/>
          <p:cNvSpPr/>
          <p:nvPr/>
        </p:nvSpPr>
        <p:spPr bwMode="auto">
          <a:xfrm>
            <a:off x="50292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600" b="1" spc="300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CIRCUIT OPERATION &amp; TRUTH TABLES</a:t>
            </a:r>
            <a:endParaRPr lang="en-US" sz="2600"/>
          </a:p>
        </p:txBody>
      </p:sp>
      <p:sp>
        <p:nvSpPr>
          <p:cNvPr id="467470489" name="Text 1"/>
          <p:cNvSpPr/>
          <p:nvPr/>
        </p:nvSpPr>
        <p:spPr bwMode="auto">
          <a:xfrm>
            <a:off x="365760" y="8686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SYSTEM OPERATING MODES</a:t>
            </a:r>
            <a:endParaRPr lang="en-US" sz="1100"/>
          </a:p>
        </p:txBody>
      </p:sp>
      <p:graphicFrame>
        <p:nvGraphicFramePr>
          <p:cNvPr id="360938343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320040" y="1161288"/>
          <a:ext cx="8503920" cy="9144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280160"/>
                <a:gridCol w="1463040"/>
                <a:gridCol w="1554480"/>
                <a:gridCol w="1097280"/>
                <a:gridCol w="3108960"/>
              </a:tblGrid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 b="1">
                          <a:solidFill>
                            <a:srgbClr val="0D1B2A"/>
                          </a:solidFill>
                          <a:latin typeface="Calibri"/>
                          <a:ea typeface="Calibri"/>
                          <a:cs typeface="Calibri"/>
                        </a:rPr>
                        <a:t>Mode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F5A623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 b="1">
                          <a:solidFill>
                            <a:srgbClr val="0D1B2A"/>
                          </a:solidFill>
                          <a:latin typeface="Calibri"/>
                          <a:ea typeface="Calibri"/>
                          <a:cs typeface="Calibri"/>
                        </a:rPr>
                        <a:t>RW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F5A623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 b="1">
                          <a:solidFill>
                            <a:srgbClr val="0D1B2A"/>
                          </a:solidFill>
                          <a:latin typeface="Calibri"/>
                          <a:ea typeface="Calibri"/>
                          <a:cs typeface="Calibri"/>
                        </a:rPr>
                        <a:t>Clock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F5A623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 b="1">
                          <a:solidFill>
                            <a:srgbClr val="0D1B2A"/>
                          </a:solidFill>
                          <a:latin typeface="Calibri"/>
                          <a:ea typeface="Calibri"/>
                          <a:cs typeface="Calibri"/>
                        </a:rPr>
                        <a:t>CLR\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F5A623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 b="1">
                          <a:solidFill>
                            <a:srgbClr val="0D1B2A"/>
                          </a:solidFill>
                          <a:latin typeface="Calibri"/>
                          <a:ea typeface="Calibri"/>
                          <a:cs typeface="Calibri"/>
                        </a:rPr>
                        <a:t>Result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F5A623"/>
                    </a:solidFill>
                  </a:tcPr>
                </a:tc>
              </a:tr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Write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1 (pressed)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↑ auto 0.5 Hz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Data latched into Row n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Read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0 (default)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Row n shown on OL0–OL3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</a:tr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Hold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0 (default)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No change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Clear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X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0 (SWC1)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Selected row → 0000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</a:tr>
            </a:tbl>
          </a:graphicData>
        </a:graphic>
      </p:graphicFrame>
      <p:sp>
        <p:nvSpPr>
          <p:cNvPr id="1248429357" name="Text 2"/>
          <p:cNvSpPr/>
          <p:nvPr/>
        </p:nvSpPr>
        <p:spPr bwMode="auto">
          <a:xfrm>
            <a:off x="365760" y="24688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74LS139 ADDRESS DECODER (G\ = RW=0 → LOW)</a:t>
            </a:r>
            <a:endParaRPr lang="en-US" sz="1100"/>
          </a:p>
        </p:txBody>
      </p:sp>
      <p:graphicFrame>
        <p:nvGraphicFramePr>
          <p:cNvPr id="1579014360" name="Table 1"/>
          <p:cNvGraphicFramePr>
            <a:graphicFrameLocks xmlns:a="http://schemas.openxmlformats.org/drawingml/2006/main" noGrp="1"/>
          </p:cNvGraphicFramePr>
          <p:nvPr/>
        </p:nvGraphicFramePr>
        <p:xfrm rot="0">
          <a:off x="320040" y="2761488"/>
          <a:ext cx="8503920" cy="9144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11680"/>
                <a:gridCol w="1371600"/>
                <a:gridCol w="1371600"/>
                <a:gridCol w="3749040"/>
              </a:tblGrid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 b="1">
                          <a:solidFill>
                            <a:srgbClr val="0D1B2A"/>
                          </a:solidFill>
                          <a:latin typeface="Calibri"/>
                          <a:ea typeface="Calibri"/>
                          <a:cs typeface="Calibri"/>
                        </a:rPr>
                        <a:t>G\ (RW)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F5A623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 b="1">
                          <a:solidFill>
                            <a:srgbClr val="0D1B2A"/>
                          </a:solidFill>
                          <a:latin typeface="Calibri"/>
                          <a:ea typeface="Calibri"/>
                          <a:cs typeface="Calibri"/>
                        </a:rPr>
                        <a:t>A1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F5A623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 b="1">
                          <a:solidFill>
                            <a:srgbClr val="0D1B2A"/>
                          </a:solidFill>
                          <a:latin typeface="Calibri"/>
                          <a:ea typeface="Calibri"/>
                          <a:cs typeface="Calibri"/>
                        </a:rPr>
                        <a:t>A0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F5A623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 b="1">
                          <a:solidFill>
                            <a:srgbClr val="0D1B2A"/>
                          </a:solidFill>
                          <a:latin typeface="Calibri"/>
                          <a:ea typeface="Calibri"/>
                          <a:cs typeface="Calibri"/>
                        </a:rPr>
                        <a:t>Row Selected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F5A623"/>
                    </a:solidFill>
                  </a:tcPr>
                </a:tc>
              </a:tr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 (RW=1)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X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X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None (write mode)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L (RW=0)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L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L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Row 0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</a:tr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L (RW=0)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L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Row 1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L (RW=0)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L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Row 2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</a:tr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L (RW=0)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Row 3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1742558193" name="Shape 3"/>
          <p:cNvSpPr/>
          <p:nvPr/>
        </p:nvSpPr>
        <p:spPr bwMode="auto">
          <a:xfrm>
            <a:off x="320040" y="4434840"/>
            <a:ext cx="8503920" cy="594360"/>
          </a:xfrm>
          <a:prstGeom prst="rect">
            <a:avLst/>
          </a:prstGeom>
          <a:solidFill>
            <a:srgbClr val="1B4F72"/>
          </a:solidFill>
          <a:ln/>
        </p:spPr>
      </p:sp>
      <p:sp>
        <p:nvSpPr>
          <p:cNvPr id="1802518610" name="Text 4"/>
          <p:cNvSpPr/>
          <p:nvPr/>
        </p:nvSpPr>
        <p:spPr bwMode="auto">
          <a:xfrm>
            <a:off x="320040" y="44348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i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NE555P Astable Clock:  f = 1.44 / [(R1 + 2×R2) × C]  =  1.44 / [(10kΩ + 136kΩ) × 20µF]  ≈  0.5 Hz</a:t>
            </a:r>
            <a:endParaRPr lang="en-US" sz="13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bg>
      <p:bgPr shadeToTitle="0">
        <a:solidFill>
          <a:srgbClr val="0D1B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7686503" name="Text 0"/>
          <p:cNvSpPr/>
          <p:nvPr/>
        </p:nvSpPr>
        <p:spPr bwMode="auto">
          <a:xfrm>
            <a:off x="50292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000" b="1" spc="100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PCB IMPLEMENTATION — KiCad RAM-project-001</a:t>
            </a:r>
            <a:endParaRPr lang="en-US" sz="2000"/>
          </a:p>
        </p:txBody>
      </p:sp>
      <p:pic>
        <p:nvPicPr>
          <p:cNvPr id="2002612768" name="Image 0" descr="/mnt/user-data/uploads/sm_black_top.png"/>
          <p:cNvPicPr>
            <a:picLocks noChangeAspect="1"/>
          </p:cNvPicPr>
          <p:nvPr/>
        </p:nvPicPr>
        <p:blipFill rotWithShape="1">
          <a:blip r:embed="rId3"/>
          <a:srcRect l="0" t="0" r="0" b="0"/>
          <a:stretch/>
        </p:blipFill>
        <p:spPr bwMode="auto">
          <a:xfrm>
            <a:off x="320040" y="777240"/>
            <a:ext cx="4114800" cy="4114800"/>
          </a:xfrm>
          <a:prstGeom prst="rect">
            <a:avLst/>
          </a:prstGeom>
        </p:spPr>
      </p:pic>
      <p:sp>
        <p:nvSpPr>
          <p:cNvPr id="2116122392" name="Shape 1"/>
          <p:cNvSpPr/>
          <p:nvPr/>
        </p:nvSpPr>
        <p:spPr bwMode="auto">
          <a:xfrm>
            <a:off x="4617720" y="914400"/>
            <a:ext cx="4206240" cy="566928"/>
          </a:xfrm>
          <a:prstGeom prst="rect">
            <a:avLst/>
          </a:prstGeom>
          <a:solidFill>
            <a:srgbClr val="1A3A50"/>
          </a:solidFill>
          <a:ln/>
          <a:effectLst>
            <a:outerShdw blurRad="50800" dist="25400" dir="8100000" sx="100000" sy="100000" kx="0" ky="0" algn="bl" rotWithShape="0">
              <a:srgbClr val="000000">
                <a:alpha val="15000"/>
              </a:srgbClr>
            </a:outerShdw>
          </a:effectLst>
        </p:spPr>
      </p:sp>
      <p:sp>
        <p:nvSpPr>
          <p:cNvPr id="1946926422" name="Text 2"/>
          <p:cNvSpPr/>
          <p:nvPr/>
        </p:nvSpPr>
        <p:spPr bwMode="auto">
          <a:xfrm>
            <a:off x="4709160" y="950976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Board:</a:t>
            </a:r>
            <a:endParaRPr lang="en-US" sz="1100"/>
          </a:p>
        </p:txBody>
      </p:sp>
      <p:sp>
        <p:nvSpPr>
          <p:cNvPr id="1199809634" name="Text 3"/>
          <p:cNvSpPr/>
          <p:nvPr/>
        </p:nvSpPr>
        <p:spPr bwMode="auto">
          <a:xfrm>
            <a:off x="4709160" y="1170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2-layer PCB, single +5V supply, all through-hole components</a:t>
            </a:r>
            <a:endParaRPr lang="en-US" sz="1100"/>
          </a:p>
        </p:txBody>
      </p:sp>
      <p:sp>
        <p:nvSpPr>
          <p:cNvPr id="1753248893" name="Shape 4"/>
          <p:cNvSpPr/>
          <p:nvPr/>
        </p:nvSpPr>
        <p:spPr bwMode="auto">
          <a:xfrm>
            <a:off x="4617720" y="1508759"/>
            <a:ext cx="4206240" cy="566928"/>
          </a:xfrm>
          <a:prstGeom prst="rect">
            <a:avLst/>
          </a:prstGeom>
          <a:solidFill>
            <a:srgbClr val="1B4F72"/>
          </a:solidFill>
          <a:ln/>
          <a:effectLst>
            <a:outerShdw blurRad="50800" dist="25400" dir="8100000" sx="100000" sy="100000" kx="0" ky="0" algn="bl" rotWithShape="0">
              <a:srgbClr val="000000">
                <a:alpha val="15000"/>
              </a:srgbClr>
            </a:outerShdw>
          </a:effectLst>
        </p:spPr>
      </p:sp>
      <p:sp>
        <p:nvSpPr>
          <p:cNvPr id="1180109515" name="Text 5"/>
          <p:cNvSpPr/>
          <p:nvPr/>
        </p:nvSpPr>
        <p:spPr bwMode="auto">
          <a:xfrm>
            <a:off x="4709160" y="1545336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ICs:</a:t>
            </a:r>
            <a:endParaRPr lang="en-US" sz="1100"/>
          </a:p>
        </p:txBody>
      </p:sp>
      <p:sp>
        <p:nvSpPr>
          <p:cNvPr id="411318787" name="Text 6"/>
          <p:cNvSpPr/>
          <p:nvPr/>
        </p:nvSpPr>
        <p:spPr bwMode="auto">
          <a:xfrm>
            <a:off x="4709160" y="17647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 unique 74-series TTL types, DIP packages — all from TI</a:t>
            </a:r>
            <a:endParaRPr lang="en-US" sz="1100"/>
          </a:p>
        </p:txBody>
      </p:sp>
      <p:sp>
        <p:nvSpPr>
          <p:cNvPr id="1689066075" name="Shape 7"/>
          <p:cNvSpPr/>
          <p:nvPr/>
        </p:nvSpPr>
        <p:spPr bwMode="auto">
          <a:xfrm>
            <a:off x="4617720" y="2103120"/>
            <a:ext cx="4206240" cy="566928"/>
          </a:xfrm>
          <a:prstGeom prst="rect">
            <a:avLst/>
          </a:prstGeom>
          <a:solidFill>
            <a:srgbClr val="1A3A50"/>
          </a:solidFill>
          <a:ln/>
          <a:effectLst>
            <a:outerShdw blurRad="50800" dist="25400" dir="8100000" sx="100000" sy="100000" kx="0" ky="0" algn="bl" rotWithShape="0">
              <a:srgbClr val="000000">
                <a:alpha val="15000"/>
              </a:srgbClr>
            </a:outerShdw>
          </a:effectLst>
        </p:spPr>
      </p:sp>
      <p:sp>
        <p:nvSpPr>
          <p:cNvPr id="720986705" name="Text 8"/>
          <p:cNvSpPr/>
          <p:nvPr/>
        </p:nvSpPr>
        <p:spPr bwMode="auto">
          <a:xfrm>
            <a:off x="4709160" y="2139696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Inputs:</a:t>
            </a:r>
            <a:endParaRPr lang="en-US" sz="1100"/>
          </a:p>
        </p:txBody>
      </p:sp>
      <p:sp>
        <p:nvSpPr>
          <p:cNvPr id="1026568952" name="Text 9"/>
          <p:cNvSpPr/>
          <p:nvPr/>
        </p:nvSpPr>
        <p:spPr bwMode="auto">
          <a:xfrm>
            <a:off x="4709160" y="23591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 data/address SPST switches + 2 momentary buttons (Clear, Write)</a:t>
            </a:r>
            <a:endParaRPr lang="en-US" sz="1100"/>
          </a:p>
        </p:txBody>
      </p:sp>
      <p:sp>
        <p:nvSpPr>
          <p:cNvPr id="2129454128" name="Shape 10"/>
          <p:cNvSpPr/>
          <p:nvPr/>
        </p:nvSpPr>
        <p:spPr bwMode="auto">
          <a:xfrm>
            <a:off x="4617720" y="2697480"/>
            <a:ext cx="4206240" cy="566928"/>
          </a:xfrm>
          <a:prstGeom prst="rect">
            <a:avLst/>
          </a:prstGeom>
          <a:solidFill>
            <a:srgbClr val="1B4F72"/>
          </a:solidFill>
          <a:ln/>
          <a:effectLst>
            <a:outerShdw blurRad="50800" dist="25400" dir="8100000" sx="100000" sy="100000" kx="0" ky="0" algn="bl" rotWithShape="0">
              <a:srgbClr val="000000">
                <a:alpha val="15000"/>
              </a:srgbClr>
            </a:outerShdw>
          </a:effectLst>
        </p:spPr>
      </p:sp>
      <p:sp>
        <p:nvSpPr>
          <p:cNvPr id="1410148881" name="Text 11"/>
          <p:cNvSpPr/>
          <p:nvPr/>
        </p:nvSpPr>
        <p:spPr bwMode="auto">
          <a:xfrm>
            <a:off x="4709160" y="2734056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Clock:</a:t>
            </a:r>
            <a:endParaRPr lang="en-US" sz="1100"/>
          </a:p>
        </p:txBody>
      </p:sp>
      <p:sp>
        <p:nvSpPr>
          <p:cNvPr id="862345530" name="Text 12"/>
          <p:cNvSpPr/>
          <p:nvPr/>
        </p:nvSpPr>
        <p:spPr bwMode="auto">
          <a:xfrm>
            <a:off x="4709160" y="29535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NE555P astable circuit on-board (no external clock needed)</a:t>
            </a:r>
            <a:endParaRPr lang="en-US" sz="1100"/>
          </a:p>
        </p:txBody>
      </p:sp>
      <p:sp>
        <p:nvSpPr>
          <p:cNvPr id="1230627595" name="Shape 13"/>
          <p:cNvSpPr/>
          <p:nvPr/>
        </p:nvSpPr>
        <p:spPr bwMode="auto">
          <a:xfrm>
            <a:off x="4617720" y="3291840"/>
            <a:ext cx="4206240" cy="566928"/>
          </a:xfrm>
          <a:prstGeom prst="rect">
            <a:avLst/>
          </a:prstGeom>
          <a:solidFill>
            <a:srgbClr val="1A3A50"/>
          </a:solidFill>
          <a:ln/>
          <a:effectLst>
            <a:outerShdw blurRad="50800" dist="25400" dir="8100000" sx="100000" sy="100000" kx="0" ky="0" algn="bl" rotWithShape="0">
              <a:srgbClr val="000000">
                <a:alpha val="15000"/>
              </a:srgbClr>
            </a:outerShdw>
          </a:effectLst>
        </p:spPr>
      </p:sp>
      <p:sp>
        <p:nvSpPr>
          <p:cNvPr id="1459593956" name="Text 14"/>
          <p:cNvSpPr/>
          <p:nvPr/>
        </p:nvSpPr>
        <p:spPr bwMode="auto">
          <a:xfrm>
            <a:off x="4709160" y="3328416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Output:</a:t>
            </a:r>
            <a:endParaRPr lang="en-US" sz="1100"/>
          </a:p>
        </p:txBody>
      </p:sp>
      <p:sp>
        <p:nvSpPr>
          <p:cNvPr id="335229376" name="Text 15"/>
          <p:cNvSpPr/>
          <p:nvPr/>
        </p:nvSpPr>
        <p:spPr bwMode="auto">
          <a:xfrm>
            <a:off x="4709160" y="354787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4× CQY99 LEDs with 220 Ω current-limiting resistors</a:t>
            </a:r>
            <a:endParaRPr lang="en-US" sz="1100"/>
          </a:p>
        </p:txBody>
      </p:sp>
      <p:sp>
        <p:nvSpPr>
          <p:cNvPr id="1508550568" name="Shape 16"/>
          <p:cNvSpPr/>
          <p:nvPr/>
        </p:nvSpPr>
        <p:spPr bwMode="auto">
          <a:xfrm>
            <a:off x="4617720" y="3886200"/>
            <a:ext cx="4206240" cy="566928"/>
          </a:xfrm>
          <a:prstGeom prst="rect">
            <a:avLst/>
          </a:prstGeom>
          <a:solidFill>
            <a:srgbClr val="1B4F72"/>
          </a:solidFill>
          <a:ln/>
          <a:effectLst>
            <a:outerShdw blurRad="50800" dist="25400" dir="8100000" sx="100000" sy="100000" kx="0" ky="0" algn="bl" rotWithShape="0">
              <a:srgbClr val="000000">
                <a:alpha val="15000"/>
              </a:srgbClr>
            </a:outerShdw>
          </a:effectLst>
        </p:spPr>
      </p:sp>
      <p:sp>
        <p:nvSpPr>
          <p:cNvPr id="650367128" name="Text 17"/>
          <p:cNvSpPr/>
          <p:nvPr/>
        </p:nvSpPr>
        <p:spPr bwMode="auto">
          <a:xfrm>
            <a:off x="4709160" y="3922776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Layers:</a:t>
            </a:r>
            <a:endParaRPr lang="en-US" sz="1100"/>
          </a:p>
        </p:txBody>
      </p:sp>
      <p:sp>
        <p:nvSpPr>
          <p:cNvPr id="1699100127" name="Text 18"/>
          <p:cNvSpPr/>
          <p:nvPr/>
        </p:nvSpPr>
        <p:spPr bwMode="auto">
          <a:xfrm>
            <a:off x="4709160" y="41422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F.Cu, B.Cu, F/B Mask, F/B Paste, F/B Silkscreen, Edge Cuts</a:t>
            </a:r>
            <a:endParaRPr lang="en-US" sz="1100"/>
          </a:p>
        </p:txBody>
      </p:sp>
      <p:sp>
        <p:nvSpPr>
          <p:cNvPr id="1986372910" name="Shape 19"/>
          <p:cNvSpPr/>
          <p:nvPr/>
        </p:nvSpPr>
        <p:spPr bwMode="auto">
          <a:xfrm>
            <a:off x="4617720" y="4480560"/>
            <a:ext cx="4206240" cy="566928"/>
          </a:xfrm>
          <a:prstGeom prst="rect">
            <a:avLst/>
          </a:prstGeom>
          <a:solidFill>
            <a:srgbClr val="1A3A50"/>
          </a:solidFill>
          <a:ln/>
          <a:effectLst>
            <a:outerShdw blurRad="50800" dist="25400" dir="8100000" sx="100000" sy="100000" kx="0" ky="0" algn="bl" rotWithShape="0">
              <a:srgbClr val="000000">
                <a:alpha val="15000"/>
              </a:srgbClr>
            </a:outerShdw>
          </a:effectLst>
        </p:spPr>
      </p:sp>
      <p:sp>
        <p:nvSpPr>
          <p:cNvPr id="714820559" name="Text 20"/>
          <p:cNvSpPr/>
          <p:nvPr/>
        </p:nvSpPr>
        <p:spPr bwMode="auto">
          <a:xfrm>
            <a:off x="4709160" y="4517136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DRC:</a:t>
            </a:r>
            <a:endParaRPr lang="en-US" sz="1100"/>
          </a:p>
        </p:txBody>
      </p:sp>
      <p:sp>
        <p:nvSpPr>
          <p:cNvPr id="90409290" name="Text 21"/>
          <p:cNvSpPr/>
          <p:nvPr/>
        </p:nvSpPr>
        <p:spPr bwMode="auto">
          <a:xfrm>
            <a:off x="4709160" y="47365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Passed — PTH &amp; NPTH drill files generated, board fabrication ready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bg>
      <p:bgPr shadeToTitle="0">
        <a:solidFill>
          <a:srgbClr val="0D1B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3340631" name="Text 0"/>
          <p:cNvSpPr/>
          <p:nvPr/>
        </p:nvSpPr>
        <p:spPr bwMode="auto">
          <a:xfrm>
            <a:off x="50292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600" b="1" spc="300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BILL OF MATERIALS (BOM)</a:t>
            </a:r>
            <a:endParaRPr lang="en-US" sz="2600"/>
          </a:p>
        </p:txBody>
      </p:sp>
      <p:graphicFrame>
        <p:nvGraphicFramePr>
          <p:cNvPr id="1978316473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320040" y="914400"/>
          <a:ext cx="8503920" cy="9144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828800"/>
                <a:gridCol w="2286000"/>
                <a:gridCol w="640080"/>
                <a:gridCol w="3749040"/>
              </a:tblGrid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 b="1">
                          <a:solidFill>
                            <a:srgbClr val="0D1B2A"/>
                          </a:solidFill>
                          <a:latin typeface="Calibri"/>
                          <a:ea typeface="Calibri"/>
                          <a:cs typeface="Calibri"/>
                        </a:rPr>
                        <a:t>Component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F5A623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 b="1">
                          <a:solidFill>
                            <a:srgbClr val="0D1B2A"/>
                          </a:solidFill>
                          <a:latin typeface="Calibri"/>
                          <a:ea typeface="Calibri"/>
                          <a:cs typeface="Calibri"/>
                        </a:rPr>
                        <a:t>Part / Value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F5A623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 b="1">
                          <a:solidFill>
                            <a:srgbClr val="0D1B2A"/>
                          </a:solidFill>
                          <a:latin typeface="Calibri"/>
                          <a:ea typeface="Calibri"/>
                          <a:cs typeface="Calibri"/>
                        </a:rPr>
                        <a:t>Qty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F5A623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 b="1">
                          <a:solidFill>
                            <a:srgbClr val="0D1B2A"/>
                          </a:solidFill>
                          <a:latin typeface="Calibri"/>
                          <a:ea typeface="Calibri"/>
                          <a:cs typeface="Calibri"/>
                        </a:rPr>
                        <a:t>Purpose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F5A623"/>
                    </a:solidFill>
                  </a:tcPr>
                </a:tc>
              </a:tr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SN74LS08N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Quad AND Gate, DIP-14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Write-enable clock gating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SN74LS244N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Octal 3-State Buffer, DIP-20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Tri-state read bus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</a:tr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NE555P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555 Timer, DIP-8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0.5 Hz astable clock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SN74LS139AN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Dual 2-to-4 Decoder, DIP-16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Address decoding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</a:tr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SN74LS175N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Quad D Flip-Flop, DIP-16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4-bit registers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SN7402N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Quad NOR Gate, DIP-14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Row-select clock gating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</a:tr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SN7432N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Quad OR Gate, DIP-14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Asynchronous clear logic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SW_100SP1T1B4M2QE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E-Switch SPST / Momentary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8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Data (4), Address (2), Clear (1), Write (1)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</a:tr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CQY99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LED 5mm, LED_D5.0mm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Output bus display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220 Ω ¼W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R_Axial DIN0207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LED current limiting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</a:tr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10 kΩ ¼W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R_Axial DIN0207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555 timer R1 (charge)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68 kΩ ¼W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R_Axial DIN0207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555 timer R2 (timing)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A3A50"/>
                    </a:solidFill>
                  </a:tcPr>
                </a:tc>
              </a:tr>
              <a:tr h="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0.1 µF 50V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C_Disc ceramic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VCC decoupling</a:t>
                      </a:r>
                      <a:endParaRPr lang="en-US"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0" marR="63500" marT="50800" marB="50800">
                    <a:lnL w="6350" algn="ctr">
                      <a:solidFill>
                        <a:srgbClr val="0D1B2A"/>
                      </a:solidFill>
                    </a:lnL>
                    <a:lnR w="6350" algn="ctr">
                      <a:solidFill>
                        <a:srgbClr val="0D1B2A"/>
                      </a:solidFill>
                    </a:lnR>
                    <a:lnT w="6350" algn="ctr">
                      <a:solidFill>
                        <a:srgbClr val="0D1B2A"/>
                      </a:solidFill>
                    </a:lnT>
                    <a:lnB w="6350" algn="ctr">
                      <a:solidFill>
                        <a:srgbClr val="0D1B2A"/>
                      </a:solidFill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97408800" name="Image 0" descr="/mnt/user-data/uploads/sm_black_top.png"/>
          <p:cNvPicPr>
            <a:picLocks noChangeAspect="1"/>
          </p:cNvPicPr>
          <p:nvPr/>
        </p:nvPicPr>
        <p:blipFill rotWithShape="1">
          <a:blip r:embed="rId3"/>
          <a:srcRect l="0" t="0" r="0" b="0"/>
          <a:stretch/>
        </p:blipFill>
        <p:spPr bwMode="auto">
          <a:xfrm>
            <a:off x="320040" y="4206240"/>
            <a:ext cx="8503920" cy="822960"/>
          </a:xfrm>
          <a:prstGeom prst="rect">
            <a:avLst/>
          </a:prstGeom>
        </p:spPr>
      </p:pic>
      <p:sp>
        <p:nvSpPr>
          <p:cNvPr id="298682270" name="Shape 1"/>
          <p:cNvSpPr/>
          <p:nvPr/>
        </p:nvSpPr>
        <p:spPr bwMode="auto">
          <a:xfrm>
            <a:off x="320040" y="4206240"/>
            <a:ext cx="8503920" cy="822960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835811732" name="Text 2"/>
          <p:cNvSpPr/>
          <p:nvPr/>
        </p:nvSpPr>
        <p:spPr bwMode="auto">
          <a:xfrm>
            <a:off x="320040" y="420624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Total: 31 Components  |  KiCad Ref: RAM-project-001  |  Single +5V Supply</a:t>
            </a:r>
            <a:endParaRPr lang="en-US" sz="13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0">
    <p:bg>
      <p:bgPr shadeToTitle="0">
        <a:solidFill>
          <a:srgbClr val="0D1B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38798" name="Text 0"/>
          <p:cNvSpPr/>
          <p:nvPr/>
        </p:nvSpPr>
        <p:spPr bwMode="auto">
          <a:xfrm>
            <a:off x="50292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600" b="1" spc="300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RESULTS &amp; IMPACT</a:t>
            </a:r>
            <a:endParaRPr lang="en-US" sz="2600"/>
          </a:p>
        </p:txBody>
      </p:sp>
      <p:sp>
        <p:nvSpPr>
          <p:cNvPr id="1304815341" name="Shape 1"/>
          <p:cNvSpPr/>
          <p:nvPr/>
        </p:nvSpPr>
        <p:spPr bwMode="auto">
          <a:xfrm>
            <a:off x="320040" y="960120"/>
            <a:ext cx="1965960" cy="1188720"/>
          </a:xfrm>
          <a:prstGeom prst="rect">
            <a:avLst/>
          </a:prstGeom>
          <a:solidFill>
            <a:srgbClr val="1B4F72"/>
          </a:solidFill>
          <a:ln/>
          <a:effectLst>
            <a:outerShdw blurRad="76200" dist="25400" dir="8100000" sx="100000" sy="100000" kx="0" ky="0" algn="bl" rotWithShape="0">
              <a:srgbClr val="000000">
                <a:alpha val="20000"/>
              </a:srgbClr>
            </a:outerShdw>
          </a:effectLst>
        </p:spPr>
      </p:sp>
      <p:sp>
        <p:nvSpPr>
          <p:cNvPr id="868384708" name="Text 2"/>
          <p:cNvSpPr/>
          <p:nvPr/>
        </p:nvSpPr>
        <p:spPr bwMode="auto">
          <a:xfrm>
            <a:off x="320040" y="10058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360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4</a:t>
            </a:r>
            <a:endParaRPr lang="en-US" sz="3600"/>
          </a:p>
        </p:txBody>
      </p:sp>
      <p:sp>
        <p:nvSpPr>
          <p:cNvPr id="1141838242" name="Text 3"/>
          <p:cNvSpPr/>
          <p:nvPr/>
        </p:nvSpPr>
        <p:spPr bwMode="auto">
          <a:xfrm>
            <a:off x="320040" y="16459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Registers</a:t>
            </a:r>
            <a:endParaRPr lang="en-US" sz="1100"/>
          </a:p>
          <a:p>
            <a:pPr marL="0" indent="0" algn="ctr">
              <a:buNone/>
              <a:defRPr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(4-bit each)</a:t>
            </a:r>
            <a:endParaRPr lang="en-US" sz="1100"/>
          </a:p>
        </p:txBody>
      </p:sp>
      <p:sp>
        <p:nvSpPr>
          <p:cNvPr id="1574927800" name="Shape 4"/>
          <p:cNvSpPr/>
          <p:nvPr/>
        </p:nvSpPr>
        <p:spPr bwMode="auto">
          <a:xfrm>
            <a:off x="2468880" y="960120"/>
            <a:ext cx="1965960" cy="1188720"/>
          </a:xfrm>
          <a:prstGeom prst="rect">
            <a:avLst/>
          </a:prstGeom>
          <a:solidFill>
            <a:srgbClr val="1B4F72"/>
          </a:solidFill>
          <a:ln/>
          <a:effectLst>
            <a:outerShdw blurRad="76200" dist="25400" dir="8100000" sx="100000" sy="100000" kx="0" ky="0" algn="bl" rotWithShape="0">
              <a:srgbClr val="000000">
                <a:alpha val="20000"/>
              </a:srgbClr>
            </a:outerShdw>
          </a:effectLst>
        </p:spPr>
      </p:sp>
      <p:sp>
        <p:nvSpPr>
          <p:cNvPr id="1345486502" name="Text 5"/>
          <p:cNvSpPr/>
          <p:nvPr/>
        </p:nvSpPr>
        <p:spPr bwMode="auto">
          <a:xfrm>
            <a:off x="2468880" y="10058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360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31</a:t>
            </a:r>
            <a:endParaRPr lang="en-US" sz="3600"/>
          </a:p>
        </p:txBody>
      </p:sp>
      <p:sp>
        <p:nvSpPr>
          <p:cNvPr id="1627569670" name="Text 6"/>
          <p:cNvSpPr/>
          <p:nvPr/>
        </p:nvSpPr>
        <p:spPr bwMode="auto">
          <a:xfrm>
            <a:off x="2468880" y="16459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Components</a:t>
            </a:r>
            <a:endParaRPr lang="en-US" sz="1100"/>
          </a:p>
          <a:p>
            <a:pPr marL="0" indent="0" algn="ctr">
              <a:buNone/>
              <a:defRPr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Placed</a:t>
            </a:r>
            <a:endParaRPr lang="en-US" sz="1100"/>
          </a:p>
        </p:txBody>
      </p:sp>
      <p:sp>
        <p:nvSpPr>
          <p:cNvPr id="472060700" name="Shape 7"/>
          <p:cNvSpPr/>
          <p:nvPr/>
        </p:nvSpPr>
        <p:spPr bwMode="auto">
          <a:xfrm>
            <a:off x="4617720" y="960120"/>
            <a:ext cx="1965960" cy="1188720"/>
          </a:xfrm>
          <a:prstGeom prst="rect">
            <a:avLst/>
          </a:prstGeom>
          <a:solidFill>
            <a:srgbClr val="1B4F72"/>
          </a:solidFill>
          <a:ln/>
          <a:effectLst>
            <a:outerShdw blurRad="76200" dist="25400" dir="8100000" sx="100000" sy="100000" kx="0" ky="0" algn="bl" rotWithShape="0">
              <a:srgbClr val="000000">
                <a:alpha val="20000"/>
              </a:srgbClr>
            </a:outerShdw>
          </a:effectLst>
        </p:spPr>
      </p:sp>
      <p:sp>
        <p:nvSpPr>
          <p:cNvPr id="1075422310" name="Text 8"/>
          <p:cNvSpPr/>
          <p:nvPr/>
        </p:nvSpPr>
        <p:spPr bwMode="auto">
          <a:xfrm>
            <a:off x="4617720" y="10058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360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100%</a:t>
            </a:r>
            <a:endParaRPr lang="en-US" sz="3600"/>
          </a:p>
        </p:txBody>
      </p:sp>
      <p:sp>
        <p:nvSpPr>
          <p:cNvPr id="593817423" name="Text 9"/>
          <p:cNvSpPr/>
          <p:nvPr/>
        </p:nvSpPr>
        <p:spPr bwMode="auto">
          <a:xfrm>
            <a:off x="4617720" y="16459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Test Cases</a:t>
            </a:r>
            <a:endParaRPr lang="en-US" sz="1100"/>
          </a:p>
          <a:p>
            <a:pPr marL="0" indent="0" algn="ctr">
              <a:buNone/>
              <a:defRPr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Passed</a:t>
            </a:r>
            <a:endParaRPr lang="en-US" sz="1100"/>
          </a:p>
        </p:txBody>
      </p:sp>
      <p:sp>
        <p:nvSpPr>
          <p:cNvPr id="1065714624" name="Shape 10"/>
          <p:cNvSpPr/>
          <p:nvPr/>
        </p:nvSpPr>
        <p:spPr bwMode="auto">
          <a:xfrm>
            <a:off x="6766560" y="960120"/>
            <a:ext cx="1965960" cy="1188720"/>
          </a:xfrm>
          <a:prstGeom prst="rect">
            <a:avLst/>
          </a:prstGeom>
          <a:solidFill>
            <a:srgbClr val="1B4F72"/>
          </a:solidFill>
          <a:ln/>
          <a:effectLst>
            <a:outerShdw blurRad="76200" dist="25400" dir="8100000" sx="100000" sy="100000" kx="0" ky="0" algn="bl" rotWithShape="0">
              <a:srgbClr val="000000">
                <a:alpha val="20000"/>
              </a:srgbClr>
            </a:outerShdw>
          </a:effectLst>
        </p:spPr>
      </p:sp>
      <p:sp>
        <p:nvSpPr>
          <p:cNvPr id="1868495730" name="Text 11"/>
          <p:cNvSpPr/>
          <p:nvPr/>
        </p:nvSpPr>
        <p:spPr bwMode="auto">
          <a:xfrm>
            <a:off x="6766560" y="10058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360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0.5 Hz</a:t>
            </a:r>
            <a:endParaRPr lang="en-US" sz="3600"/>
          </a:p>
        </p:txBody>
      </p:sp>
      <p:sp>
        <p:nvSpPr>
          <p:cNvPr id="1004891058" name="Text 12"/>
          <p:cNvSpPr/>
          <p:nvPr/>
        </p:nvSpPr>
        <p:spPr bwMode="auto">
          <a:xfrm>
            <a:off x="6766560" y="16459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Clock</a:t>
            </a:r>
            <a:endParaRPr lang="en-US" sz="1100"/>
          </a:p>
          <a:p>
            <a:pPr marL="0" indent="0" algn="ctr">
              <a:buNone/>
              <a:defRPr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Generated</a:t>
            </a:r>
            <a:endParaRPr lang="en-US" sz="1100"/>
          </a:p>
        </p:txBody>
      </p:sp>
      <p:sp>
        <p:nvSpPr>
          <p:cNvPr id="932379937" name="Text 13"/>
          <p:cNvSpPr/>
          <p:nvPr/>
        </p:nvSpPr>
        <p:spPr bwMode="auto">
          <a:xfrm>
            <a:off x="365760" y="23317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VERIFIED RESULTS</a:t>
            </a:r>
            <a:endParaRPr lang="en-US" sz="1150"/>
          </a:p>
        </p:txBody>
      </p:sp>
      <p:sp>
        <p:nvSpPr>
          <p:cNvPr id="1248825798" name="Shape 14"/>
          <p:cNvSpPr/>
          <p:nvPr/>
        </p:nvSpPr>
        <p:spPr bwMode="auto">
          <a:xfrm>
            <a:off x="365760" y="2651760"/>
            <a:ext cx="73152" cy="2743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892948311" name="Text 15"/>
          <p:cNvSpPr/>
          <p:nvPr/>
        </p:nvSpPr>
        <p:spPr bwMode="auto">
          <a:xfrm>
            <a:off x="548640" y="2651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All 4 operating modes verified: Write, Read, Hold, Clear — with correct LED output for every address combination.</a:t>
            </a:r>
            <a:endParaRPr lang="en-US" sz="1200"/>
          </a:p>
        </p:txBody>
      </p:sp>
      <p:sp>
        <p:nvSpPr>
          <p:cNvPr id="1547484143" name="Shape 16"/>
          <p:cNvSpPr/>
          <p:nvPr/>
        </p:nvSpPr>
        <p:spPr bwMode="auto">
          <a:xfrm>
            <a:off x="365760" y="3072384"/>
            <a:ext cx="73152" cy="2743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960518760" name="Text 17"/>
          <p:cNvSpPr/>
          <p:nvPr/>
        </p:nvSpPr>
        <p:spPr bwMode="auto">
          <a:xfrm>
            <a:off x="548640" y="30723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Clock-gating circuit (NOR–AND) correctly qualifies write pulses, preventing spurious latching during read.</a:t>
            </a:r>
            <a:endParaRPr lang="en-US" sz="1200"/>
          </a:p>
        </p:txBody>
      </p:sp>
      <p:sp>
        <p:nvSpPr>
          <p:cNvPr id="1451065955" name="Shape 18"/>
          <p:cNvSpPr/>
          <p:nvPr/>
        </p:nvSpPr>
        <p:spPr bwMode="auto">
          <a:xfrm>
            <a:off x="365760" y="3493008"/>
            <a:ext cx="73152" cy="2743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726864332" name="Text 19"/>
          <p:cNvSpPr/>
          <p:nvPr/>
        </p:nvSpPr>
        <p:spPr bwMode="auto">
          <a:xfrm>
            <a:off x="548640" y="34930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Tri-state bus isolation confirmed — no bus contention detected when switching between register reads.</a:t>
            </a:r>
            <a:endParaRPr lang="en-US" sz="1200"/>
          </a:p>
        </p:txBody>
      </p:sp>
      <p:sp>
        <p:nvSpPr>
          <p:cNvPr id="48246320" name="Shape 20"/>
          <p:cNvSpPr/>
          <p:nvPr/>
        </p:nvSpPr>
        <p:spPr bwMode="auto">
          <a:xfrm>
            <a:off x="365760" y="3913632"/>
            <a:ext cx="73152" cy="2743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973556730" name="Text 21"/>
          <p:cNvSpPr/>
          <p:nvPr/>
        </p:nvSpPr>
        <p:spPr bwMode="auto">
          <a:xfrm>
            <a:off x="548640" y="39136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KiCad PCB passed DRC with zero errors. PTH + NPTH drill files generated; board ready for fabrication.</a:t>
            </a:r>
            <a:endParaRPr lang="en-US" sz="1200"/>
          </a:p>
        </p:txBody>
      </p:sp>
      <p:sp>
        <p:nvSpPr>
          <p:cNvPr id="449938702" name="Shape 22"/>
          <p:cNvSpPr/>
          <p:nvPr/>
        </p:nvSpPr>
        <p:spPr bwMode="auto">
          <a:xfrm>
            <a:off x="365760" y="4334256"/>
            <a:ext cx="73152" cy="2743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892569263" name="Text 23"/>
          <p:cNvSpPr/>
          <p:nvPr/>
        </p:nvSpPr>
        <p:spPr bwMode="auto">
          <a:xfrm>
            <a:off x="548640" y="433425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PBL Outcomes: Students demonstrated mastery of D flip-flop operation, bus multiplexing, and iterative PCB design workflow.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1">
    <p:bg>
      <p:bgPr shadeToTitle="0">
        <a:solidFill>
          <a:srgbClr val="0D1B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4086175" name="Text 0"/>
          <p:cNvSpPr/>
          <p:nvPr/>
        </p:nvSpPr>
        <p:spPr bwMode="auto">
          <a:xfrm>
            <a:off x="50292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600" b="1" spc="300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CONCLUSION &amp; FUTURE SCOPE</a:t>
            </a:r>
            <a:endParaRPr lang="en-US" sz="2600"/>
          </a:p>
        </p:txBody>
      </p:sp>
      <p:sp>
        <p:nvSpPr>
          <p:cNvPr id="1603663945" name="Shape 1"/>
          <p:cNvSpPr/>
          <p:nvPr/>
        </p:nvSpPr>
        <p:spPr bwMode="auto">
          <a:xfrm>
            <a:off x="365760" y="914400"/>
            <a:ext cx="4206240" cy="3657600"/>
          </a:xfrm>
          <a:prstGeom prst="rect">
            <a:avLst/>
          </a:prstGeom>
          <a:solidFill>
            <a:srgbClr val="1B4F72"/>
          </a:solidFill>
          <a:ln/>
        </p:spPr>
      </p:sp>
      <p:sp>
        <p:nvSpPr>
          <p:cNvPr id="375755863" name="Text 2"/>
          <p:cNvSpPr/>
          <p:nvPr/>
        </p:nvSpPr>
        <p:spPr bwMode="auto">
          <a:xfrm>
            <a:off x="502920" y="10058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CONCLUSION</a:t>
            </a:r>
            <a:endParaRPr lang="en-US" sz="1300"/>
          </a:p>
        </p:txBody>
      </p:sp>
      <p:sp>
        <p:nvSpPr>
          <p:cNvPr id="143857109" name="Text 3"/>
          <p:cNvSpPr/>
          <p:nvPr/>
        </p:nvSpPr>
        <p:spPr bwMode="auto">
          <a:xfrm>
            <a:off x="502920" y="1371600"/>
            <a:ext cx="39319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4×4 register file was successfully designed and implemented using standard 74-series TTL ICs, achieving all stated objectives:</a:t>
            </a:r>
            <a:endParaRPr lang="en-US" sz="1250"/>
          </a:p>
          <a:p>
            <a:pPr marL="0" indent="0">
              <a:buNone/>
              <a:defRPr/>
            </a:pPr>
            <a:endParaRPr lang="en-US" sz="1250"/>
          </a:p>
          <a:p>
            <a:pPr marL="0" indent="0">
              <a:buNone/>
              <a:defRPr/>
            </a:pPr>
            <a:r>
              <a:rPr lang="en-US"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Synchronous write on rising 0.5 Hz clock edge</a:t>
            </a:r>
            <a:endParaRPr lang="en-US" sz="1250"/>
          </a:p>
          <a:p>
            <a:pPr marL="0" indent="0">
              <a:buNone/>
              <a:defRPr/>
            </a:pPr>
            <a:r>
              <a:rPr lang="en-US"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Combinational tri-state read with no bus contention</a:t>
            </a:r>
            <a:endParaRPr lang="en-US" sz="1250"/>
          </a:p>
          <a:p>
            <a:pPr marL="0" indent="0">
              <a:buNone/>
              <a:defRPr/>
            </a:pPr>
            <a:r>
              <a:rPr lang="en-US"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Asynchronous clear independent of clock</a:t>
            </a:r>
            <a:endParaRPr lang="en-US" sz="1250"/>
          </a:p>
          <a:p>
            <a:pPr marL="0" indent="0">
              <a:buNone/>
              <a:defRPr/>
            </a:pPr>
            <a:r>
              <a:rPr lang="en-US"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KiCad PCB with 31 components, DRC-clean</a:t>
            </a:r>
            <a:endParaRPr lang="en-US" sz="1250"/>
          </a:p>
          <a:p>
            <a:pPr marL="0" indent="0">
              <a:buNone/>
              <a:defRPr/>
            </a:pPr>
            <a:endParaRPr lang="en-US" sz="1250"/>
          </a:p>
          <a:p>
            <a:pPr marL="0" indent="0">
              <a:buNone/>
              <a:defRPr/>
            </a:pPr>
            <a:r>
              <a:rPr lang="en-US"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project operationalises five core Digital Electronics curriculum concepts in hardware — demonstrating that PBL bridges the gap between theory and engineering practice.</a:t>
            </a:r>
            <a:endParaRPr lang="en-US" sz="1250"/>
          </a:p>
        </p:txBody>
      </p:sp>
      <p:sp>
        <p:nvSpPr>
          <p:cNvPr id="1069111398" name="Shape 4"/>
          <p:cNvSpPr/>
          <p:nvPr/>
        </p:nvSpPr>
        <p:spPr bwMode="auto">
          <a:xfrm>
            <a:off x="4800600" y="914400"/>
            <a:ext cx="3977640" cy="3657600"/>
          </a:xfrm>
          <a:prstGeom prst="rect">
            <a:avLst/>
          </a:prstGeom>
          <a:solidFill>
            <a:srgbClr val="1B4F72"/>
          </a:solidFill>
          <a:ln/>
        </p:spPr>
      </p:sp>
      <p:sp>
        <p:nvSpPr>
          <p:cNvPr id="1310200435" name="Text 5"/>
          <p:cNvSpPr/>
          <p:nvPr/>
        </p:nvSpPr>
        <p:spPr bwMode="auto">
          <a:xfrm>
            <a:off x="4937760" y="1005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FUTURE SCOPE</a:t>
            </a:r>
            <a:endParaRPr lang="en-US" sz="1300"/>
          </a:p>
        </p:txBody>
      </p:sp>
      <p:sp>
        <p:nvSpPr>
          <p:cNvPr id="746026398" name="Shape 6"/>
          <p:cNvSpPr/>
          <p:nvPr/>
        </p:nvSpPr>
        <p:spPr bwMode="auto">
          <a:xfrm>
            <a:off x="4937760" y="1444752"/>
            <a:ext cx="73152" cy="29260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038925478" name="Text 7"/>
          <p:cNvSpPr/>
          <p:nvPr/>
        </p:nvSpPr>
        <p:spPr bwMode="auto">
          <a:xfrm>
            <a:off x="5102352" y="144475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Expand to 8×8 register file with 3-bit addressing for larger data storage capacity.</a:t>
            </a:r>
            <a:endParaRPr lang="en-US" sz="1200"/>
          </a:p>
        </p:txBody>
      </p:sp>
      <p:sp>
        <p:nvSpPr>
          <p:cNvPr id="61387089" name="Shape 8"/>
          <p:cNvSpPr/>
          <p:nvPr/>
        </p:nvSpPr>
        <p:spPr bwMode="auto">
          <a:xfrm>
            <a:off x="4937760" y="1883664"/>
            <a:ext cx="73152" cy="29260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446051060" name="Text 9"/>
          <p:cNvSpPr/>
          <p:nvPr/>
        </p:nvSpPr>
        <p:spPr bwMode="auto">
          <a:xfrm>
            <a:off x="5102352" y="188366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Add a 7-segment display decoder for human-readable numeric output.</a:t>
            </a:r>
            <a:endParaRPr lang="en-US" sz="1200"/>
          </a:p>
        </p:txBody>
      </p:sp>
      <p:sp>
        <p:nvSpPr>
          <p:cNvPr id="2023904271" name="Shape 10"/>
          <p:cNvSpPr/>
          <p:nvPr/>
        </p:nvSpPr>
        <p:spPr bwMode="auto">
          <a:xfrm>
            <a:off x="4937760" y="2322576"/>
            <a:ext cx="73152" cy="29260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381507654" name="Text 11"/>
          <p:cNvSpPr/>
          <p:nvPr/>
        </p:nvSpPr>
        <p:spPr bwMode="auto">
          <a:xfrm>
            <a:off x="5102352" y="232257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Implement dual-port access — simultaneous read from two separate addresses.</a:t>
            </a:r>
            <a:endParaRPr lang="en-US" sz="1200"/>
          </a:p>
        </p:txBody>
      </p:sp>
      <p:sp>
        <p:nvSpPr>
          <p:cNvPr id="1220219864" name="Shape 12"/>
          <p:cNvSpPr/>
          <p:nvPr/>
        </p:nvSpPr>
        <p:spPr bwMode="auto">
          <a:xfrm>
            <a:off x="4937760" y="2761488"/>
            <a:ext cx="73152" cy="29260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071770102" name="Text 13"/>
          <p:cNvSpPr/>
          <p:nvPr/>
        </p:nvSpPr>
        <p:spPr bwMode="auto">
          <a:xfrm>
            <a:off x="5102352" y="276148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Replace 74-series ICs with FPGA implementation in VHDL/Verilog for speed comparison.</a:t>
            </a:r>
            <a:endParaRPr lang="en-US" sz="1200"/>
          </a:p>
        </p:txBody>
      </p:sp>
      <p:sp>
        <p:nvSpPr>
          <p:cNvPr id="61650087" name="Shape 14"/>
          <p:cNvSpPr/>
          <p:nvPr/>
        </p:nvSpPr>
        <p:spPr bwMode="auto">
          <a:xfrm>
            <a:off x="4937760" y="3200400"/>
            <a:ext cx="73152" cy="29260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284764538" name="Text 15"/>
          <p:cNvSpPr/>
          <p:nvPr/>
        </p:nvSpPr>
        <p:spPr bwMode="auto">
          <a:xfrm>
            <a:off x="5102352" y="320040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Integrate with a simple ALU for a minimal CPU datapath demonstration.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2">
    <p:bg>
      <p:bgPr shadeToTitle="0">
        <a:solidFill>
          <a:srgbClr val="0D1B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7733707" name="Shape 0"/>
          <p:cNvSpPr/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1075784337" name="Shape 1"/>
          <p:cNvSpPr/>
          <p:nvPr/>
        </p:nvSpPr>
        <p:spPr bwMode="auto">
          <a:xfrm>
            <a:off x="0" y="0"/>
            <a:ext cx="9144000" cy="1280160"/>
          </a:xfrm>
          <a:prstGeom prst="rect">
            <a:avLst/>
          </a:prstGeom>
          <a:solidFill>
            <a:srgbClr val="1B4F72"/>
          </a:solidFill>
          <a:ln/>
        </p:spPr>
      </p:sp>
      <p:sp>
        <p:nvSpPr>
          <p:cNvPr id="407495529" name="Text 2"/>
          <p:cNvSpPr/>
          <p:nvPr/>
        </p:nvSpPr>
        <p:spPr bwMode="auto">
          <a:xfrm>
            <a:off x="365760" y="914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 spc="150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CIRCUIT CONCLAVE HACKATHON 2026  |  MIT WORLD PEACE UNIVERSITY</a:t>
            </a:r>
            <a:endParaRPr lang="en-US" sz="1200"/>
          </a:p>
        </p:txBody>
      </p:sp>
      <p:sp>
        <p:nvSpPr>
          <p:cNvPr id="316127897" name="Text 3"/>
          <p:cNvSpPr/>
          <p:nvPr/>
        </p:nvSpPr>
        <p:spPr bwMode="auto">
          <a:xfrm>
            <a:off x="365760" y="5943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DCE3EA"/>
                </a:solidFill>
                <a:latin typeface="Calibri"/>
                <a:ea typeface="Calibri"/>
                <a:cs typeface="Calibri"/>
              </a:rPr>
              <a:t>DoEEE &amp; prismlabs  |  Department of Electrical &amp; Electronics Engineering</a:t>
            </a:r>
            <a:endParaRPr lang="en-US" sz="1200"/>
          </a:p>
        </p:txBody>
      </p:sp>
      <p:sp>
        <p:nvSpPr>
          <p:cNvPr id="1164694150" name="Text 4"/>
          <p:cNvSpPr/>
          <p:nvPr/>
        </p:nvSpPr>
        <p:spPr bwMode="auto">
          <a:xfrm>
            <a:off x="457200" y="15544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6000" b="1" spc="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THANK YOU</a:t>
            </a:r>
            <a:endParaRPr lang="en-US" sz="6000"/>
          </a:p>
        </p:txBody>
      </p:sp>
      <p:sp>
        <p:nvSpPr>
          <p:cNvPr id="1726307942" name="Shape 5"/>
          <p:cNvSpPr/>
          <p:nvPr/>
        </p:nvSpPr>
        <p:spPr bwMode="auto">
          <a:xfrm>
            <a:off x="1371600" y="2788920"/>
            <a:ext cx="6400800" cy="36576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16396605" name="Text 6"/>
          <p:cNvSpPr/>
          <p:nvPr/>
        </p:nvSpPr>
        <p:spPr bwMode="auto"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5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Harshvardhan Rathod</a:t>
            </a:r>
            <a:r>
              <a:rPr lang="en-US" sz="13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PRN: </a:t>
            </a:r>
            <a:r>
              <a:rPr lang="en-US" sz="1350" b="0" i="0" u="none" strike="noStrike" cap="none" spc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—————</a:t>
            </a:r>
            <a:r>
              <a:rPr lang="en-US" sz="1350">
                <a:solidFill>
                  <a:srgbClr val="7F8C8D"/>
                </a:solidFill>
                <a:latin typeface="Calibri"/>
                <a:ea typeface="Calibri"/>
                <a:cs typeface="Calibri"/>
              </a:rPr>
              <a:t>   |   </a:t>
            </a:r>
            <a:r>
              <a:rPr lang="en-US" sz="135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Alok Deep Verma</a:t>
            </a:r>
            <a:r>
              <a:rPr lang="en-US" sz="13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PRN: </a:t>
            </a:r>
            <a:r>
              <a:rPr lang="en-US" sz="1350" b="0" i="0" u="none" strike="noStrike" cap="none" spc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—————</a:t>
            </a:r>
            <a:endParaRPr lang="en-US" sz="1350"/>
          </a:p>
        </p:txBody>
      </p:sp>
      <p:sp>
        <p:nvSpPr>
          <p:cNvPr id="610725167" name="Text 7"/>
          <p:cNvSpPr/>
          <p:nvPr/>
        </p:nvSpPr>
        <p:spPr bwMode="auto"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DCE3EA"/>
                </a:solidFill>
                <a:latin typeface="Calibri"/>
                <a:ea typeface="Calibri"/>
                <a:cs typeface="Calibri"/>
              </a:rPr>
              <a:t>FY B.Tech E&amp;CE  |  Division: 23  |  Faculty Mentor: Dr. Sarika Patil  |  Academic Year: 2025–26</a:t>
            </a:r>
            <a:endParaRPr lang="en-US" sz="1200"/>
          </a:p>
        </p:txBody>
      </p:sp>
      <p:sp>
        <p:nvSpPr>
          <p:cNvPr id="1354172026" name="Text 8"/>
          <p:cNvSpPr/>
          <p:nvPr/>
        </p:nvSpPr>
        <p:spPr bwMode="auto"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i="1">
                <a:solidFill>
                  <a:srgbClr val="7F8C8D"/>
                </a:solidFill>
                <a:latin typeface="Calibri"/>
                <a:ea typeface="Calibri"/>
                <a:cs typeface="Calibri"/>
              </a:rPr>
              <a:t>Project: Design and Implementation of a 4×4 Register File with Synchronous Read/Write and Asynchronous Clear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ONLYOFFICE/9.3.1.8</Application>
  <PresentationFormat>On-screen Show (4:3)</PresentationFormat>
  <Paragraphs>0</Paragraphs>
  <Slides>12</Slides>
  <Notes>12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4×4 Register File — Circuit Conclave Hackathon 2026</dc:title>
  <dc:subject>PptxGenJS Presentation</dc:subject>
  <dc:creator>PptxGenJS</dc:creator>
  <cp:lastModifiedBy/>
  <cp:revision>2</cp:revision>
  <dcterms:created xsi:type="dcterms:W3CDTF">2026-04-20T03:02:02Z</dcterms:created>
  <dcterms:modified xsi:type="dcterms:W3CDTF">2026-04-22T12:40:29Z</dcterms:modified>
</cp:coreProperties>
</file>